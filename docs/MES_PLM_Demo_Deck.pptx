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4" r:id="rId2"/>
    <p:sldId id="272" r:id="rId3"/>
    <p:sldId id="259" r:id="rId4"/>
    <p:sldId id="258" r:id="rId5"/>
    <p:sldId id="269" r:id="rId6"/>
    <p:sldId id="261" r:id="rId7"/>
    <p:sldId id="262" r:id="rId8"/>
    <p:sldId id="271" r:id="rId9"/>
    <p:sldId id="264" r:id="rId10"/>
    <p:sldId id="268" r:id="rId11"/>
    <p:sldId id="266"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E9D3F7-323A-4A1B-A4DF-66D63B8ADC83}" type="datetimeFigureOut">
              <a:rPr lang="en-IN" smtClean="0"/>
              <a:t>23-08-2026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7D079A-ED07-4C39-A19F-04F3D3A4D8B8}" type="slidenum">
              <a:rPr lang="en-IN" smtClean="0"/>
              <a:t>‹#›</a:t>
            </a:fld>
            <a:endParaRPr lang="en-IN"/>
          </a:p>
        </p:txBody>
      </p:sp>
    </p:spTree>
    <p:extLst>
      <p:ext uri="{BB962C8B-B14F-4D97-AF65-F5344CB8AC3E}">
        <p14:creationId xmlns:p14="http://schemas.microsoft.com/office/powerpoint/2010/main" val="1911401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morning/afternoon. Today I’ll be presenting the project I worked on during my internship at </a:t>
            </a:r>
            <a:r>
              <a:rPr lang="en-IN" dirty="0" err="1"/>
              <a:t>Arktecq</a:t>
            </a:r>
            <a:r>
              <a:rPr lang="en-IN" dirty="0"/>
              <a:t>.</a:t>
            </a:r>
          </a:p>
          <a:p>
            <a:r>
              <a:rPr lang="en-IN" dirty="0"/>
              <a:t>The project is called the MES–PLM Data Pipeline POC. Basically, the idea of this project was to take manufacturing data coming from different sources, process it properly, calculate useful production KPIs, and finally make that information available for analysis through PostgreSQL and Power BI.</a:t>
            </a:r>
          </a:p>
          <a:p>
            <a:r>
              <a:rPr lang="en-IN" dirty="0"/>
              <a:t>So in this presentation, I’ll take you through the complete flow — starting from the raw data, how we ingested and transformed it, how the KPIs were calculated, how the data was stored in PostgreSQL, and finally how I used it to build the Power BI dashboards.</a:t>
            </a:r>
          </a:p>
          <a:p>
            <a:r>
              <a:rPr lang="en-IN" dirty="0"/>
              <a:t>I’ll also briefly show the CI automation that I implemented using GitHub Actions.</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1</a:t>
            </a:fld>
            <a:endParaRPr lang="en-IN"/>
          </a:p>
        </p:txBody>
      </p:sp>
    </p:spTree>
    <p:extLst>
      <p:ext uri="{BB962C8B-B14F-4D97-AF65-F5344CB8AC3E}">
        <p14:creationId xmlns:p14="http://schemas.microsoft.com/office/powerpoint/2010/main" val="1467129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first coming to the problem statement, the main issue was that the manufacturing data was not coming from just one place.</a:t>
            </a:r>
          </a:p>
          <a:p>
            <a:r>
              <a:rPr lang="en-IN" dirty="0"/>
              <a:t>We had data from MES, PLM and also a reference dataset. Each of these contains different information — for example, production orders, machine logs, downtime information, product details and engineering change information.</a:t>
            </a:r>
          </a:p>
          <a:p>
            <a:r>
              <a:rPr lang="en-IN" dirty="0"/>
              <a:t>So the main challenge was to bring all this different data into one proper pipeline. Once the data comes in, we need to validate it, clean it, transform it and then calculate useful production KPIs from it.</a:t>
            </a:r>
          </a:p>
          <a:p>
            <a:r>
              <a:rPr lang="en-IN" dirty="0"/>
              <a:t>The goal was basically to build an end-to-end pipeline that handles all these steps instead of treating each dataset separately.</a:t>
            </a:r>
          </a:p>
          <a:p>
            <a:r>
              <a:rPr lang="en-IN" dirty="0"/>
              <a:t>As part of the project, I worked on the ingestion and validation process, created the Parquet landing and curated layers, calculated KPIs like OEE, availability, performance, quality, defect rate and cycle time, and then loaded the analytical data into PostgreSQL.</a:t>
            </a:r>
          </a:p>
          <a:p>
            <a:r>
              <a:rPr lang="en-IN" dirty="0"/>
              <a:t>Finally, the processed data was connected to Power BI so that we could actually visualize the production and engineering information through interactive dashboards.</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2</a:t>
            </a:fld>
            <a:endParaRPr lang="en-IN"/>
          </a:p>
        </p:txBody>
      </p:sp>
    </p:spTree>
    <p:extLst>
      <p:ext uri="{BB962C8B-B14F-4D97-AF65-F5344CB8AC3E}">
        <p14:creationId xmlns:p14="http://schemas.microsoft.com/office/powerpoint/2010/main" val="2302517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shows the complete architecture of the project.</a:t>
            </a:r>
          </a:p>
          <a:p>
            <a:r>
              <a:rPr lang="en-IN" dirty="0"/>
              <a:t>We start with the raw data sources, which are the MES, PLM and reference datasets.</a:t>
            </a:r>
          </a:p>
          <a:p>
            <a:r>
              <a:rPr lang="en-IN" dirty="0"/>
              <a:t>The factual processing step is </a:t>
            </a:r>
            <a:r>
              <a:rPr lang="en-IN" b="1" dirty="0"/>
              <a:t>validation and ingestion</a:t>
            </a:r>
            <a:r>
              <a:rPr lang="en-IN" dirty="0"/>
              <a:t>. Here we check the incoming files and bring them into the pipeline.</a:t>
            </a:r>
          </a:p>
          <a:p>
            <a:r>
              <a:rPr lang="en-IN" dirty="0"/>
              <a:t>After ingestion, the data goes into the </a:t>
            </a:r>
            <a:r>
              <a:rPr lang="en-IN" b="1" dirty="0"/>
              <a:t>landing layer</a:t>
            </a:r>
            <a:r>
              <a:rPr lang="en-IN" dirty="0"/>
              <a:t>, where we store it in Parquet format.</a:t>
            </a:r>
          </a:p>
          <a:p>
            <a:r>
              <a:rPr lang="en-IN" dirty="0"/>
              <a:t>From there, we perform the transformation and KPI calculations. We clean the data, join the required datasets and calculate the production-related KPIs.</a:t>
            </a:r>
          </a:p>
          <a:p>
            <a:r>
              <a:rPr lang="en-IN" dirty="0"/>
              <a:t>The output from this stage is our </a:t>
            </a:r>
            <a:r>
              <a:rPr lang="en-IN" b="1" dirty="0"/>
              <a:t>curated KPI dataset</a:t>
            </a:r>
            <a:r>
              <a:rPr lang="en-IN" dirty="0"/>
              <a:t>.</a:t>
            </a:r>
          </a:p>
          <a:p>
            <a:r>
              <a:rPr lang="en-IN" dirty="0"/>
              <a:t>After that, the processed data is loaded into </a:t>
            </a:r>
            <a:r>
              <a:rPr lang="en-IN" b="1" dirty="0"/>
              <a:t>PostgreSQL</a:t>
            </a:r>
            <a:r>
              <a:rPr lang="en-IN" dirty="0"/>
              <a:t>, which acts as our analytics layer.</a:t>
            </a:r>
          </a:p>
          <a:p>
            <a:r>
              <a:rPr lang="en-IN" dirty="0"/>
              <a:t>Finally, the PostgreSQL data is used in </a:t>
            </a:r>
            <a:r>
              <a:rPr lang="en-IN" b="1" dirty="0"/>
              <a:t>Power BI</a:t>
            </a:r>
            <a:r>
              <a:rPr lang="en-IN" dirty="0"/>
              <a:t>, where we created the interactive dashboards.</a:t>
            </a:r>
          </a:p>
          <a:p>
            <a:r>
              <a:rPr lang="en-IN" dirty="0"/>
              <a:t>So the overall flow is basically raw data → ingestion → landing → transformation → curated data → PostgreSQL → Power BI.</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3</a:t>
            </a:fld>
            <a:endParaRPr lang="en-IN"/>
          </a:p>
        </p:txBody>
      </p:sp>
    </p:spTree>
    <p:extLst>
      <p:ext uri="{BB962C8B-B14F-4D97-AF65-F5344CB8AC3E}">
        <p14:creationId xmlns:p14="http://schemas.microsoft.com/office/powerpoint/2010/main" val="4032416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coming to the data sources, we mainly worked with three types of data.</a:t>
            </a:r>
          </a:p>
          <a:p>
            <a:r>
              <a:rPr lang="en-IN" dirty="0"/>
              <a:t>The first one is </a:t>
            </a:r>
            <a:r>
              <a:rPr lang="en-IN" b="1" dirty="0"/>
              <a:t>MES</a:t>
            </a:r>
            <a:r>
              <a:rPr lang="en-IN" dirty="0"/>
              <a:t>, which is the Manufacturing Execution System. From MES, we have machine logs, production orders and downtime events. This data helps us understand things like how the machines are performing, how much production is happening, cycle time and downtime.</a:t>
            </a:r>
          </a:p>
          <a:p>
            <a:r>
              <a:rPr lang="en-IN" dirty="0"/>
              <a:t>The second source is </a:t>
            </a:r>
            <a:r>
              <a:rPr lang="en-IN" b="1" dirty="0"/>
              <a:t>PLM</a:t>
            </a:r>
            <a:r>
              <a:rPr lang="en-IN" dirty="0"/>
              <a:t>, or Product Lifecycle Management. Here we have the BOM, product metadata and ECN requests. This gives us information about the products and also the engineering changes that happen to them.</a:t>
            </a:r>
          </a:p>
          <a:p>
            <a:r>
              <a:rPr lang="en-IN" dirty="0"/>
              <a:t>Apart from these two, we also have one reference dataset called </a:t>
            </a:r>
            <a:r>
              <a:rPr lang="en-IN" sz="1200" kern="1200" dirty="0">
                <a:solidFill>
                  <a:schemeClr val="tx1"/>
                </a:solidFill>
                <a:latin typeface="+mn-lt"/>
                <a:ea typeface="+mn-ea"/>
                <a:cs typeface="+mn-cs"/>
              </a:rPr>
              <a:t>electrolyser_reference.csv</a:t>
            </a:r>
            <a:r>
              <a:rPr lang="en-IN" dirty="0"/>
              <a:t>.</a:t>
            </a:r>
          </a:p>
          <a:p>
            <a:r>
              <a:rPr lang="en-IN" dirty="0"/>
              <a:t>This dataset is important because we use it to calculate the </a:t>
            </a:r>
            <a:r>
              <a:rPr lang="en-IN" b="1" dirty="0"/>
              <a:t>Ideal Cycle Time</a:t>
            </a:r>
            <a:r>
              <a:rPr lang="en-IN" dirty="0"/>
              <a:t> during the KPI transformation. The ideal cycle time is then used in the downstream performance and OEE calculations.</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4</a:t>
            </a:fld>
            <a:endParaRPr lang="en-IN"/>
          </a:p>
        </p:txBody>
      </p:sp>
    </p:spTree>
    <p:extLst>
      <p:ext uri="{BB962C8B-B14F-4D97-AF65-F5344CB8AC3E}">
        <p14:creationId xmlns:p14="http://schemas.microsoft.com/office/powerpoint/2010/main" val="2294195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Next is the ingestion and landing part.</a:t>
            </a:r>
          </a:p>
          <a:p>
            <a:r>
              <a:rPr lang="en-IN" dirty="0"/>
              <a:t>For ingestion, we have separate Python scripts for the MES data, PLM data and the electrolyser reference data.</a:t>
            </a:r>
          </a:p>
          <a:p>
            <a:r>
              <a:rPr lang="en-IN" dirty="0"/>
              <a:t>The first thing we do is read the raw CSV files. Before processing them, we validate whether the files have the expected schema and columns.</a:t>
            </a:r>
          </a:p>
          <a:p>
            <a:r>
              <a:rPr lang="en-IN" dirty="0"/>
              <a:t>If the input is valid, we convert the data into </a:t>
            </a:r>
            <a:r>
              <a:rPr lang="en-IN" b="1" dirty="0"/>
              <a:t>Parquet format</a:t>
            </a:r>
            <a:r>
              <a:rPr lang="en-IN" dirty="0"/>
              <a:t> and store it in the landing layer.</a:t>
            </a:r>
          </a:p>
          <a:p>
            <a:r>
              <a:rPr lang="en-IN" dirty="0"/>
              <a:t>The landing layer contains Parquet versions of all our main datasets — machine logs, production orders, downtime events, BOM, product metadata, ECN requests and the electrolyser reference data.</a:t>
            </a:r>
          </a:p>
          <a:p>
            <a:r>
              <a:rPr lang="en-IN" dirty="0"/>
              <a:t>We also have error handling. If an input file has a schema or validation issue, it is handled separately under the </a:t>
            </a:r>
            <a:r>
              <a:rPr lang="en-IN" sz="1200" kern="1200" dirty="0">
                <a:solidFill>
                  <a:schemeClr val="tx1"/>
                </a:solidFill>
                <a:latin typeface="+mn-lt"/>
                <a:ea typeface="+mn-ea"/>
                <a:cs typeface="+mn-cs"/>
              </a:rPr>
              <a:t>data/errors</a:t>
            </a:r>
            <a:r>
              <a:rPr lang="en-IN" dirty="0"/>
              <a:t> folder instead of continuing through the normal pipeline.</a:t>
            </a:r>
          </a:p>
          <a:p>
            <a:r>
              <a:rPr lang="en-IN" dirty="0"/>
              <a:t>We also maintain an ingestion log in </a:t>
            </a:r>
            <a:r>
              <a:rPr lang="en-IN" sz="1200" kern="1200" dirty="0">
                <a:solidFill>
                  <a:schemeClr val="tx1"/>
                </a:solidFill>
                <a:latin typeface="+mn-lt"/>
                <a:ea typeface="+mn-ea"/>
                <a:cs typeface="+mn-cs"/>
              </a:rPr>
              <a:t>logs/ingest.log</a:t>
            </a:r>
            <a:r>
              <a:rPr lang="en-IN" dirty="0"/>
              <a:t>, so we have a record of what happened during the ingestion process.</a:t>
            </a:r>
          </a:p>
          <a:p>
            <a:r>
              <a:rPr lang="en-IN" dirty="0"/>
              <a:t>So this stage basically makes sure that the raw data is validated and brought into a consistent format before we start doing the actual transformations.</a:t>
            </a:r>
          </a:p>
        </p:txBody>
      </p:sp>
      <p:sp>
        <p:nvSpPr>
          <p:cNvPr id="4" name="Slide Number Placeholder 3"/>
          <p:cNvSpPr>
            <a:spLocks noGrp="1"/>
          </p:cNvSpPr>
          <p:nvPr>
            <p:ph type="sldNum" sz="quarter" idx="5"/>
          </p:nvPr>
        </p:nvSpPr>
        <p:spPr/>
        <p:txBody>
          <a:bodyPr/>
          <a:lstStyle/>
          <a:p>
            <a:fld id="{517D079A-ED07-4C39-A19F-04F3D3A4D8B8}" type="slidenum">
              <a:rPr lang="en-IN" smtClean="0"/>
              <a:t>5</a:t>
            </a:fld>
            <a:endParaRPr lang="en-IN"/>
          </a:p>
        </p:txBody>
      </p:sp>
    </p:spTree>
    <p:extLst>
      <p:ext uri="{BB962C8B-B14F-4D97-AF65-F5344CB8AC3E}">
        <p14:creationId xmlns:p14="http://schemas.microsoft.com/office/powerpoint/2010/main" val="2852112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Once the data is available in the landing layer, the next step is transformation.</a:t>
            </a:r>
          </a:p>
          <a:p>
            <a:r>
              <a:rPr lang="en-IN" dirty="0"/>
              <a:t>The main transformation logic is present in </a:t>
            </a:r>
            <a:r>
              <a:rPr lang="en-IN" sz="1200" kern="1200" dirty="0">
                <a:solidFill>
                  <a:schemeClr val="tx1"/>
                </a:solidFill>
                <a:latin typeface="+mn-lt"/>
                <a:ea typeface="+mn-ea"/>
                <a:cs typeface="+mn-cs"/>
              </a:rPr>
              <a:t>transform_kpis.py</a:t>
            </a:r>
            <a:r>
              <a:rPr lang="en-IN" dirty="0"/>
              <a:t>.</a:t>
            </a:r>
          </a:p>
          <a:p>
            <a:r>
              <a:rPr lang="en-IN" dirty="0"/>
              <a:t>Here, we perform the required data cleaning and validation, join the different datasets, and then calculate the production KPIs.</a:t>
            </a:r>
          </a:p>
          <a:p>
            <a:r>
              <a:rPr lang="en-IN" dirty="0"/>
              <a:t>Some of the important KPIs we calculate are total output, defects, defect rate, average cycle time, availability, performance, quality and OEE.</a:t>
            </a:r>
          </a:p>
          <a:p>
            <a:r>
              <a:rPr lang="en-IN" dirty="0"/>
              <a:t>One important part of the KPI calculation is the Ideal Cycle Time. The reference data contains the cycle-time information in its original electrolyser-specific format. We convert this value into milliseconds using a SQL formula so that it is in the same time unit as our production data. This converted Ideal Cycle Time is then used for calculating the performance-related KPIs and OEE.</a:t>
            </a:r>
          </a:p>
          <a:p>
            <a:r>
              <a:rPr lang="en-IN" dirty="0" err="1"/>
              <a:t>fter</a:t>
            </a:r>
            <a:r>
              <a:rPr lang="en-IN" dirty="0"/>
              <a:t> all these transformations and calculations, we generate the curated dataset called </a:t>
            </a:r>
            <a:r>
              <a:rPr lang="en-IN" sz="1200" kern="1200" dirty="0" err="1">
                <a:solidFill>
                  <a:schemeClr val="tx1"/>
                </a:solidFill>
                <a:latin typeface="+mn-lt"/>
                <a:ea typeface="+mn-ea"/>
                <a:cs typeface="+mn-cs"/>
              </a:rPr>
              <a:t>production_kpis.parquet</a:t>
            </a:r>
            <a:r>
              <a:rPr lang="en-IN" dirty="0"/>
              <a:t>.</a:t>
            </a:r>
          </a:p>
          <a:p>
            <a:r>
              <a:rPr lang="en-IN" dirty="0"/>
              <a:t>So at the end of this stage, instead of having separate raw operational datasets, we have a cleaned and transformed dataset containing the information required for our downstream analytics</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6</a:t>
            </a:fld>
            <a:endParaRPr lang="en-IN"/>
          </a:p>
        </p:txBody>
      </p:sp>
    </p:spTree>
    <p:extLst>
      <p:ext uri="{BB962C8B-B14F-4D97-AF65-F5344CB8AC3E}">
        <p14:creationId xmlns:p14="http://schemas.microsoft.com/office/powerpoint/2010/main" val="3272141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After the transformation stage, we move to the PostgreSQL analytics layer. PostgreSQL is used to store the transformed MES–PLM data in a structured way for further analysis.</a:t>
            </a:r>
          </a:p>
          <a:p>
            <a:r>
              <a:rPr lang="en-IN" dirty="0"/>
              <a:t>We created seven tables — three dimension tables, one fact table and three analytical tables. The dimension tables are </a:t>
            </a:r>
            <a:r>
              <a:rPr lang="en-IN" sz="1200" kern="1200" dirty="0" err="1">
                <a:solidFill>
                  <a:schemeClr val="tx1"/>
                </a:solidFill>
                <a:latin typeface="+mn-lt"/>
                <a:ea typeface="+mn-ea"/>
                <a:cs typeface="+mn-cs"/>
              </a:rPr>
              <a:t>dim_machine</a:t>
            </a:r>
            <a:r>
              <a:rPr lang="en-IN" dirty="0"/>
              <a:t>, </a:t>
            </a:r>
            <a:r>
              <a:rPr lang="en-IN" sz="1200" kern="1200" dirty="0" err="1">
                <a:solidFill>
                  <a:schemeClr val="tx1"/>
                </a:solidFill>
                <a:latin typeface="+mn-lt"/>
                <a:ea typeface="+mn-ea"/>
                <a:cs typeface="+mn-cs"/>
              </a:rPr>
              <a:t>dim_product</a:t>
            </a:r>
            <a:r>
              <a:rPr lang="en-IN" dirty="0"/>
              <a:t> and </a:t>
            </a:r>
            <a:r>
              <a:rPr lang="en-IN" sz="1200" kern="1200" dirty="0" err="1">
                <a:solidFill>
                  <a:schemeClr val="tx1"/>
                </a:solidFill>
                <a:latin typeface="+mn-lt"/>
                <a:ea typeface="+mn-ea"/>
                <a:cs typeface="+mn-cs"/>
              </a:rPr>
              <a:t>dim_time</a:t>
            </a:r>
            <a:r>
              <a:rPr lang="en-IN" dirty="0"/>
              <a:t>. The main fact table is </a:t>
            </a:r>
            <a:r>
              <a:rPr lang="en-IN" sz="1200" kern="1200" dirty="0" err="1">
                <a:solidFill>
                  <a:schemeClr val="tx1"/>
                </a:solidFill>
                <a:latin typeface="+mn-lt"/>
                <a:ea typeface="+mn-ea"/>
                <a:cs typeface="+mn-cs"/>
              </a:rPr>
              <a:t>fact_production_kpis</a:t>
            </a:r>
            <a:r>
              <a:rPr lang="en-IN" dirty="0"/>
              <a:t>, and the analytical tables are </a:t>
            </a:r>
            <a:r>
              <a:rPr lang="en-IN" sz="1200" kern="1200" dirty="0" err="1">
                <a:solidFill>
                  <a:schemeClr val="tx1"/>
                </a:solidFill>
                <a:latin typeface="+mn-lt"/>
                <a:ea typeface="+mn-ea"/>
                <a:cs typeface="+mn-cs"/>
              </a:rPr>
              <a:t>machine_performance</a:t>
            </a:r>
            <a:r>
              <a:rPr lang="en-IN" dirty="0"/>
              <a:t>, </a:t>
            </a:r>
            <a:r>
              <a:rPr lang="en-IN" sz="1200" kern="1200" dirty="0" err="1">
                <a:solidFill>
                  <a:schemeClr val="tx1"/>
                </a:solidFill>
                <a:latin typeface="+mn-lt"/>
                <a:ea typeface="+mn-ea"/>
                <a:cs typeface="+mn-cs"/>
              </a:rPr>
              <a:t>machine_downtime</a:t>
            </a:r>
            <a:r>
              <a:rPr lang="en-IN" dirty="0"/>
              <a:t> and </a:t>
            </a:r>
            <a:r>
              <a:rPr lang="en-IN" sz="1200" kern="1200" dirty="0" err="1">
                <a:solidFill>
                  <a:schemeClr val="tx1"/>
                </a:solidFill>
                <a:latin typeface="+mn-lt"/>
                <a:ea typeface="+mn-ea"/>
                <a:cs typeface="+mn-cs"/>
              </a:rPr>
              <a:t>ecn_events</a:t>
            </a:r>
            <a:r>
              <a:rPr lang="en-IN" dirty="0"/>
              <a:t>.</a:t>
            </a:r>
          </a:p>
          <a:p>
            <a:r>
              <a:rPr lang="en-IN" dirty="0"/>
              <a:t>We have two important parts here. First, </a:t>
            </a:r>
            <a:r>
              <a:rPr lang="en-IN" sz="1200" b="1" kern="1200" dirty="0">
                <a:solidFill>
                  <a:schemeClr val="tx1"/>
                </a:solidFill>
                <a:latin typeface="+mn-lt"/>
                <a:ea typeface="+mn-ea"/>
                <a:cs typeface="+mn-cs"/>
              </a:rPr>
              <a:t>load_data.py</a:t>
            </a:r>
            <a:r>
              <a:rPr lang="en-IN" b="1" dirty="0"/>
              <a:t> is used to load the processed data into the PostgreSQL tables</a:t>
            </a:r>
            <a:r>
              <a:rPr lang="en-IN" dirty="0"/>
              <a:t>. This helps populate the database from the transformed datasets.</a:t>
            </a:r>
          </a:p>
          <a:p>
            <a:r>
              <a:rPr lang="en-IN" dirty="0"/>
              <a:t>Then we have </a:t>
            </a:r>
            <a:r>
              <a:rPr lang="en-IN" sz="1200" b="1" kern="1200" dirty="0" err="1">
                <a:solidFill>
                  <a:schemeClr val="tx1"/>
                </a:solidFill>
                <a:latin typeface="+mn-lt"/>
                <a:ea typeface="+mn-ea"/>
                <a:cs typeface="+mn-cs"/>
              </a:rPr>
              <a:t>queries.sql</a:t>
            </a:r>
            <a:r>
              <a:rPr lang="en-IN" dirty="0"/>
              <a:t>, where the 10 predefined analytical SQL queries are stored. These queries cover things like production efficiency, downtime, defect rate, OEE, production trends, production loss and ECN-related analysis.</a:t>
            </a:r>
          </a:p>
          <a:p>
            <a:r>
              <a:rPr lang="en-IN" dirty="0"/>
              <a:t>So basically, </a:t>
            </a:r>
            <a:r>
              <a:rPr lang="en-IN" sz="1200" kern="1200" dirty="0">
                <a:solidFill>
                  <a:schemeClr val="tx1"/>
                </a:solidFill>
                <a:latin typeface="+mn-lt"/>
                <a:ea typeface="+mn-ea"/>
                <a:cs typeface="+mn-cs"/>
              </a:rPr>
              <a:t>load_data.py</a:t>
            </a:r>
            <a:r>
              <a:rPr lang="en-IN" dirty="0"/>
              <a:t> handles getting the data into PostgreSQL, while </a:t>
            </a:r>
            <a:r>
              <a:rPr lang="en-IN" sz="1200" kern="1200" dirty="0" err="1">
                <a:solidFill>
                  <a:schemeClr val="tx1"/>
                </a:solidFill>
                <a:latin typeface="+mn-lt"/>
                <a:ea typeface="+mn-ea"/>
                <a:cs typeface="+mn-cs"/>
              </a:rPr>
              <a:t>queries.sql</a:t>
            </a:r>
            <a:r>
              <a:rPr lang="en-IN" dirty="0"/>
              <a:t> contains the SQL analysis we perform on that data. The resulting structured data is then used for the Power BI reporting layer.</a:t>
            </a:r>
          </a:p>
        </p:txBody>
      </p:sp>
      <p:sp>
        <p:nvSpPr>
          <p:cNvPr id="4" name="Slide Number Placeholder 3"/>
          <p:cNvSpPr>
            <a:spLocks noGrp="1"/>
          </p:cNvSpPr>
          <p:nvPr>
            <p:ph type="sldNum" sz="quarter" idx="5"/>
          </p:nvPr>
        </p:nvSpPr>
        <p:spPr/>
        <p:txBody>
          <a:bodyPr/>
          <a:lstStyle/>
          <a:p>
            <a:fld id="{517D079A-ED07-4C39-A19F-04F3D3A4D8B8}" type="slidenum">
              <a:rPr lang="en-IN" smtClean="0"/>
              <a:t>7</a:t>
            </a:fld>
            <a:endParaRPr lang="en-IN"/>
          </a:p>
        </p:txBody>
      </p:sp>
    </p:spTree>
    <p:extLst>
      <p:ext uri="{BB962C8B-B14F-4D97-AF65-F5344CB8AC3E}">
        <p14:creationId xmlns:p14="http://schemas.microsoft.com/office/powerpoint/2010/main" val="1225470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coming to the Power BI part, this is where we convert all the processed data into something that is easier to understand and analyse.</a:t>
            </a:r>
          </a:p>
          <a:p>
            <a:r>
              <a:rPr lang="en-IN" dirty="0"/>
              <a:t>We created </a:t>
            </a:r>
            <a:r>
              <a:rPr lang="en-IN" b="1" dirty="0"/>
              <a:t>five dashboard pages</a:t>
            </a:r>
            <a:r>
              <a:rPr lang="en-IN" dirty="0"/>
              <a:t>, and each page focuses on a different area.</a:t>
            </a:r>
          </a:p>
          <a:p>
            <a:r>
              <a:rPr lang="en-IN" dirty="0"/>
              <a:t>The first is </a:t>
            </a:r>
            <a:r>
              <a:rPr lang="en-IN" b="1" dirty="0"/>
              <a:t>Production Overview</a:t>
            </a:r>
            <a:r>
              <a:rPr lang="en-IN" dirty="0"/>
              <a:t>, where we look at production orders, planned versus actual quantity and OEE trends.</a:t>
            </a:r>
          </a:p>
          <a:p>
            <a:r>
              <a:rPr lang="en-IN" dirty="0"/>
              <a:t>The second is </a:t>
            </a:r>
            <a:r>
              <a:rPr lang="en-IN" b="1" dirty="0"/>
              <a:t>Machine Performance</a:t>
            </a:r>
            <a:r>
              <a:rPr lang="en-IN" dirty="0"/>
              <a:t>, where we analyse machine downtime, downtime reasons and cycle time.</a:t>
            </a:r>
          </a:p>
          <a:p>
            <a:r>
              <a:rPr lang="en-IN" dirty="0"/>
              <a:t>The third is </a:t>
            </a:r>
            <a:r>
              <a:rPr lang="en-IN" b="1" dirty="0"/>
              <a:t>Quality Metrics</a:t>
            </a:r>
            <a:r>
              <a:rPr lang="en-IN" dirty="0"/>
              <a:t>, which focuses on defects and defect rate.</a:t>
            </a:r>
          </a:p>
          <a:p>
            <a:r>
              <a:rPr lang="en-IN" dirty="0"/>
              <a:t>The fourth is </a:t>
            </a:r>
            <a:r>
              <a:rPr lang="en-IN" b="1" dirty="0"/>
              <a:t>Downtime Analysis</a:t>
            </a:r>
            <a:r>
              <a:rPr lang="en-IN" dirty="0"/>
              <a:t>, where we look more specifically at downtime by reason, machine and time.</a:t>
            </a:r>
          </a:p>
          <a:p>
            <a:r>
              <a:rPr lang="en-IN" dirty="0"/>
              <a:t>And the fifth is </a:t>
            </a:r>
            <a:r>
              <a:rPr lang="en-IN" b="1" dirty="0"/>
              <a:t>Engineering Change Impact</a:t>
            </a:r>
            <a:r>
              <a:rPr lang="en-IN" dirty="0"/>
              <a:t>, where we connect the ECN information with production and quality KPIs.</a:t>
            </a:r>
          </a:p>
          <a:p>
            <a:r>
              <a:rPr lang="en-IN" dirty="0"/>
              <a:t>We also made the dashboard interactive using filters for things like product, machine, date range, ECN ID and Change Type.</a:t>
            </a:r>
          </a:p>
          <a:p>
            <a:r>
              <a:rPr lang="en-IN" dirty="0"/>
              <a:t>So instead of just displaying fixed charts, the user can select different filters and analyse the data based on what they are interested in</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8</a:t>
            </a:fld>
            <a:endParaRPr lang="en-IN"/>
          </a:p>
        </p:txBody>
      </p:sp>
    </p:spTree>
    <p:extLst>
      <p:ext uri="{BB962C8B-B14F-4D97-AF65-F5344CB8AC3E}">
        <p14:creationId xmlns:p14="http://schemas.microsoft.com/office/powerpoint/2010/main" val="4033442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I'm showing the screenshots from the Production Overview and Machine Performance pages.</a:t>
            </a:r>
          </a:p>
          <a:p>
            <a:r>
              <a:rPr lang="en-IN" dirty="0"/>
              <a:t>In the </a:t>
            </a:r>
            <a:r>
              <a:rPr lang="en-IN" b="1" dirty="0"/>
              <a:t>Production Overview</a:t>
            </a:r>
            <a:r>
              <a:rPr lang="en-IN" dirty="0"/>
              <a:t>, the main focus is on understanding how production is performing. We look at the total production orders, planned versus actual quantity and average OEE. We also have the monthly OEE trend.</a:t>
            </a:r>
          </a:p>
          <a:p>
            <a:r>
              <a:rPr lang="en-IN" dirty="0"/>
              <a:t>One thing we added here is the </a:t>
            </a:r>
            <a:r>
              <a:rPr lang="en-IN" b="1" dirty="0"/>
              <a:t>3-month rolling average of OEE</a:t>
            </a:r>
            <a:r>
              <a:rPr lang="en-IN" dirty="0"/>
              <a:t>. Instead of looking only at individual monthly values, the rolling average helps us see the overall trend more clearly.</a:t>
            </a:r>
          </a:p>
          <a:p>
            <a:r>
              <a:rPr lang="en-IN" dirty="0"/>
              <a:t>Then on the </a:t>
            </a:r>
            <a:r>
              <a:rPr lang="en-IN" b="1" dirty="0"/>
              <a:t>Machine Performance</a:t>
            </a:r>
            <a:r>
              <a:rPr lang="en-IN" dirty="0"/>
              <a:t> page, we go one level deeper and look at individual machines.</a:t>
            </a:r>
          </a:p>
          <a:p>
            <a:r>
              <a:rPr lang="en-IN" dirty="0"/>
              <a:t>We can see which machines have higher downtime, what the major downtime reasons are, and how the average cycle time differs between machines.</a:t>
            </a:r>
          </a:p>
          <a:p>
            <a:r>
              <a:rPr lang="en-IN" dirty="0"/>
              <a:t>We also have the cycle-time distribution, which gives us a better view of how the cycle times are spread across the data.</a:t>
            </a:r>
          </a:p>
        </p:txBody>
      </p:sp>
      <p:sp>
        <p:nvSpPr>
          <p:cNvPr id="4" name="Slide Number Placeholder 3"/>
          <p:cNvSpPr>
            <a:spLocks noGrp="1"/>
          </p:cNvSpPr>
          <p:nvPr>
            <p:ph type="sldNum" sz="quarter" idx="5"/>
          </p:nvPr>
        </p:nvSpPr>
        <p:spPr/>
        <p:txBody>
          <a:bodyPr/>
          <a:lstStyle/>
          <a:p>
            <a:fld id="{517D079A-ED07-4C39-A19F-04F3D3A4D8B8}" type="slidenum">
              <a:rPr lang="en-IN" smtClean="0"/>
              <a:t>9</a:t>
            </a:fld>
            <a:endParaRPr lang="en-IN"/>
          </a:p>
        </p:txBody>
      </p:sp>
    </p:spTree>
    <p:extLst>
      <p:ext uri="{BB962C8B-B14F-4D97-AF65-F5344CB8AC3E}">
        <p14:creationId xmlns:p14="http://schemas.microsoft.com/office/powerpoint/2010/main" val="2272147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These two pages focus mainly on quality and downtime.</a:t>
            </a:r>
          </a:p>
          <a:p>
            <a:r>
              <a:rPr lang="en-IN" dirty="0"/>
              <a:t>On the </a:t>
            </a:r>
            <a:r>
              <a:rPr lang="en-IN" b="1" dirty="0"/>
              <a:t>Quality Metrics</a:t>
            </a:r>
            <a:r>
              <a:rPr lang="en-IN" dirty="0"/>
              <a:t> page, we look at total defects and average defect rate. We can also analyse the defect rate by product and see how the quality is changing over time.</a:t>
            </a:r>
          </a:p>
          <a:p>
            <a:r>
              <a:rPr lang="en-IN" dirty="0"/>
              <a:t>Then we have the </a:t>
            </a:r>
            <a:r>
              <a:rPr lang="en-IN" b="1" dirty="0"/>
              <a:t>Downtime Analysis</a:t>
            </a:r>
            <a:r>
              <a:rPr lang="en-IN" dirty="0"/>
              <a:t> page.</a:t>
            </a:r>
          </a:p>
          <a:p>
            <a:r>
              <a:rPr lang="en-IN" dirty="0"/>
              <a:t>Here the idea is to understand where production time is being lost. We can analyse downtime by reason, by machine and over time. We also have the time-window analysis to look at downtime during different periods.</a:t>
            </a:r>
          </a:p>
          <a:p>
            <a:r>
              <a:rPr lang="en-IN" dirty="0"/>
              <a:t>So together, these two pages help us understand both sides — whether we are having quality problems and where we are losing machine or production time.</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10</a:t>
            </a:fld>
            <a:endParaRPr lang="en-IN"/>
          </a:p>
        </p:txBody>
      </p:sp>
    </p:spTree>
    <p:extLst>
      <p:ext uri="{BB962C8B-B14F-4D97-AF65-F5344CB8AC3E}">
        <p14:creationId xmlns:p14="http://schemas.microsoft.com/office/powerpoint/2010/main" val="834777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one of the important pages because here we connect the </a:t>
            </a:r>
            <a:r>
              <a:rPr lang="en-IN" b="1" dirty="0"/>
              <a:t>PLM engineering change information with the manufacturing KPIs</a:t>
            </a:r>
            <a:r>
              <a:rPr lang="en-IN" dirty="0"/>
              <a:t>.</a:t>
            </a:r>
          </a:p>
          <a:p>
            <a:r>
              <a:rPr lang="en-IN" dirty="0"/>
              <a:t>The page allows us to select an </a:t>
            </a:r>
            <a:r>
              <a:rPr lang="en-IN" b="1" dirty="0"/>
              <a:t>ECN ID and Change Type</a:t>
            </a:r>
            <a:r>
              <a:rPr lang="en-IN" dirty="0"/>
              <a:t>.</a:t>
            </a:r>
          </a:p>
          <a:p>
            <a:r>
              <a:rPr lang="en-IN" dirty="0"/>
              <a:t>Before selecting an ECN, we have the overall view of the data. Once we select a particular engineering change, the dashboard responds to that selection and shows the corresponding analysis.</a:t>
            </a:r>
          </a:p>
          <a:p>
            <a:r>
              <a:rPr lang="en-IN" dirty="0"/>
              <a:t>The main purpose is to compare the KPIs before and after the engineering change.</a:t>
            </a:r>
          </a:p>
          <a:p>
            <a:r>
              <a:rPr lang="en-IN" dirty="0"/>
              <a:t>In particular, we look at </a:t>
            </a:r>
            <a:r>
              <a:rPr lang="en-IN" b="1" dirty="0"/>
              <a:t>OEE and defect rate</a:t>
            </a:r>
            <a:r>
              <a:rPr lang="en-IN" dirty="0"/>
              <a:t> to understand whether the engineering change had an impact on production performance or quality.</a:t>
            </a:r>
          </a:p>
          <a:p>
            <a:r>
              <a:rPr lang="en-IN" dirty="0"/>
              <a:t>So this page basically helps us move from just looking at production data to actually understanding the possible impact of engineering changes on manufacturing performance.</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11</a:t>
            </a:fld>
            <a:endParaRPr lang="en-IN"/>
          </a:p>
        </p:txBody>
      </p:sp>
    </p:spTree>
    <p:extLst>
      <p:ext uri="{BB962C8B-B14F-4D97-AF65-F5344CB8AC3E}">
        <p14:creationId xmlns:p14="http://schemas.microsoft.com/office/powerpoint/2010/main" val="1672413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Finally, coming to Week 6, we also added basic CI automation using GitHub Actions.</a:t>
            </a:r>
          </a:p>
          <a:p>
            <a:r>
              <a:rPr lang="en-IN" dirty="0"/>
              <a:t>We added the required </a:t>
            </a:r>
            <a:r>
              <a:rPr lang="en-IN" sz="1200" kern="1200" dirty="0">
                <a:solidFill>
                  <a:schemeClr val="tx1"/>
                </a:solidFill>
                <a:latin typeface="+mn-lt"/>
                <a:ea typeface="+mn-ea"/>
                <a:cs typeface="+mn-cs"/>
              </a:rPr>
              <a:t>requirements.txt</a:t>
            </a:r>
            <a:r>
              <a:rPr lang="en-IN" dirty="0"/>
              <a:t> file and created the workflow under </a:t>
            </a:r>
            <a:r>
              <a:rPr lang="en-IN" sz="1200" kern="1200" dirty="0">
                <a:solidFill>
                  <a:schemeClr val="tx1"/>
                </a:solidFill>
                <a:latin typeface="+mn-lt"/>
                <a:ea typeface="+mn-ea"/>
                <a:cs typeface="+mn-cs"/>
              </a:rPr>
              <a:t>.</a:t>
            </a:r>
            <a:r>
              <a:rPr lang="en-IN" sz="1200" kern="1200" dirty="0" err="1">
                <a:solidFill>
                  <a:schemeClr val="tx1"/>
                </a:solidFill>
                <a:latin typeface="+mn-lt"/>
                <a:ea typeface="+mn-ea"/>
                <a:cs typeface="+mn-cs"/>
              </a:rPr>
              <a:t>github</a:t>
            </a:r>
            <a:r>
              <a:rPr lang="en-IN" sz="1200" kern="1200" dirty="0">
                <a:solidFill>
                  <a:schemeClr val="tx1"/>
                </a:solidFill>
                <a:latin typeface="+mn-lt"/>
                <a:ea typeface="+mn-ea"/>
                <a:cs typeface="+mn-cs"/>
              </a:rPr>
              <a:t>/workflows/</a:t>
            </a:r>
            <a:r>
              <a:rPr lang="en-IN" sz="1200" kern="1200" dirty="0" err="1">
                <a:solidFill>
                  <a:schemeClr val="tx1"/>
                </a:solidFill>
                <a:latin typeface="+mn-lt"/>
                <a:ea typeface="+mn-ea"/>
                <a:cs typeface="+mn-cs"/>
              </a:rPr>
              <a:t>ci.yml</a:t>
            </a:r>
            <a:r>
              <a:rPr lang="en-IN" dirty="0"/>
              <a:t>.</a:t>
            </a:r>
          </a:p>
          <a:p>
            <a:r>
              <a:rPr lang="en-IN" dirty="0"/>
              <a:t>After pushing the changes to GitHub, the workflow was triggered automatically and the CI run completed successfully.</a:t>
            </a:r>
          </a:p>
          <a:p>
            <a:r>
              <a:rPr lang="en-IN" dirty="0"/>
              <a:t>We also created the architecture diagram using draw.io as part of the final documentation.</a:t>
            </a:r>
          </a:p>
          <a:p>
            <a:r>
              <a:rPr lang="en-IN" dirty="0"/>
              <a:t>So overall, the project covers the complete journey from raw MES and PLM data, through ingestion and transformation, KPI calculation, PostgreSQL analytics and finally Power BI visualization.</a:t>
            </a:r>
          </a:p>
          <a:p>
            <a:r>
              <a:rPr lang="en-IN" dirty="0"/>
              <a:t>The main outcome is an end-to-end MES–PLM analytics solution where the data is processed systematically and converted into useful production and engineering insights.</a:t>
            </a:r>
          </a:p>
          <a:p>
            <a:r>
              <a:rPr lang="en-IN" dirty="0"/>
              <a:t>That brings me to the end of my project presentation. Thank you.</a:t>
            </a:r>
          </a:p>
          <a:p>
            <a:endParaRPr lang="en-IN" dirty="0"/>
          </a:p>
        </p:txBody>
      </p:sp>
      <p:sp>
        <p:nvSpPr>
          <p:cNvPr id="4" name="Slide Number Placeholder 3"/>
          <p:cNvSpPr>
            <a:spLocks noGrp="1"/>
          </p:cNvSpPr>
          <p:nvPr>
            <p:ph type="sldNum" sz="quarter" idx="5"/>
          </p:nvPr>
        </p:nvSpPr>
        <p:spPr/>
        <p:txBody>
          <a:bodyPr/>
          <a:lstStyle/>
          <a:p>
            <a:fld id="{517D079A-ED07-4C39-A19F-04F3D3A4D8B8}" type="slidenum">
              <a:rPr lang="en-IN" smtClean="0"/>
              <a:t>12</a:t>
            </a:fld>
            <a:endParaRPr lang="en-IN"/>
          </a:p>
        </p:txBody>
      </p:sp>
    </p:spTree>
    <p:extLst>
      <p:ext uri="{BB962C8B-B14F-4D97-AF65-F5344CB8AC3E}">
        <p14:creationId xmlns:p14="http://schemas.microsoft.com/office/powerpoint/2010/main" val="628910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658368"/>
            <a:ext cx="2369559" cy="261610"/>
          </a:xfrm>
          <a:prstGeom prst="rect">
            <a:avLst/>
          </a:prstGeom>
          <a:noFill/>
        </p:spPr>
        <p:txBody>
          <a:bodyPr wrap="none">
            <a:spAutoFit/>
          </a:bodyPr>
          <a:lstStyle/>
          <a:p>
            <a:pPr>
              <a:defRPr sz="1100" b="1">
                <a:solidFill>
                  <a:srgbClr val="C0504D"/>
                </a:solidFill>
                <a:latin typeface="Aptos"/>
              </a:defRPr>
            </a:pPr>
            <a:r>
              <a:rPr dirty="0"/>
              <a:t>INTERNSHIP PROJECT  |  ARKTECQ</a:t>
            </a:r>
          </a:p>
        </p:txBody>
      </p:sp>
      <p:sp>
        <p:nvSpPr>
          <p:cNvPr id="4" name="TextBox 3"/>
          <p:cNvSpPr txBox="1"/>
          <p:nvPr/>
        </p:nvSpPr>
        <p:spPr>
          <a:xfrm>
            <a:off x="868680" y="1325880"/>
            <a:ext cx="5234895" cy="1292662"/>
          </a:xfrm>
          <a:prstGeom prst="rect">
            <a:avLst/>
          </a:prstGeom>
          <a:noFill/>
        </p:spPr>
        <p:txBody>
          <a:bodyPr wrap="none">
            <a:spAutoFit/>
          </a:bodyPr>
          <a:lstStyle/>
          <a:p>
            <a:pPr>
              <a:defRPr sz="3900" b="1">
                <a:solidFill>
                  <a:srgbClr val="232323"/>
                </a:solidFill>
                <a:latin typeface="Aptos Display"/>
              </a:defRPr>
            </a:pPr>
            <a:r>
              <a:rPr dirty="0"/>
              <a:t>MES–PLM Data Pipeline</a:t>
            </a:r>
          </a:p>
          <a:p>
            <a:pPr>
              <a:defRPr sz="3900" b="1">
                <a:solidFill>
                  <a:srgbClr val="C0504D"/>
                </a:solidFill>
                <a:latin typeface="Aptos Display"/>
              </a:defRPr>
            </a:pPr>
            <a:r>
              <a:rPr dirty="0"/>
              <a:t>POC</a:t>
            </a:r>
          </a:p>
        </p:txBody>
      </p:sp>
      <p:sp>
        <p:nvSpPr>
          <p:cNvPr id="5" name="Rectangle 4"/>
          <p:cNvSpPr/>
          <p:nvPr/>
        </p:nvSpPr>
        <p:spPr>
          <a:xfrm>
            <a:off x="896112" y="2761488"/>
            <a:ext cx="1417320" cy="50292"/>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3182112"/>
            <a:ext cx="6737870" cy="1323439"/>
          </a:xfrm>
          <a:prstGeom prst="rect">
            <a:avLst/>
          </a:prstGeom>
          <a:noFill/>
        </p:spPr>
        <p:txBody>
          <a:bodyPr wrap="square">
            <a:spAutoFit/>
          </a:bodyPr>
          <a:lstStyle/>
          <a:p>
            <a:pPr>
              <a:defRPr sz="2000">
                <a:solidFill>
                  <a:srgbClr val="696969"/>
                </a:solidFill>
                <a:latin typeface="Aptos"/>
              </a:defRPr>
            </a:pPr>
            <a:r>
              <a:rPr dirty="0"/>
              <a:t>End-to-End Data Pipeline, Analytics</a:t>
            </a:r>
            <a:br>
              <a:rPr dirty="0"/>
            </a:br>
            <a:r>
              <a:rPr dirty="0"/>
              <a:t>&amp; Production Performance Dashboard</a:t>
            </a:r>
            <a:endParaRPr lang="en-IN" dirty="0"/>
          </a:p>
          <a:p>
            <a:pPr>
              <a:defRPr sz="2000">
                <a:solidFill>
                  <a:srgbClr val="696969"/>
                </a:solidFill>
                <a:latin typeface="Aptos"/>
              </a:defRPr>
            </a:pPr>
            <a:r>
              <a:rPr lang="en-IN" dirty="0"/>
              <a:t>                                              </a:t>
            </a:r>
          </a:p>
          <a:p>
            <a:pPr>
              <a:defRPr sz="2000">
                <a:solidFill>
                  <a:srgbClr val="696969"/>
                </a:solidFill>
                <a:latin typeface="Aptos"/>
              </a:defRPr>
            </a:pPr>
            <a:r>
              <a:rPr lang="en-IN" dirty="0"/>
              <a:t>                                                                       – Samskruthi S Kashyap</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438912"/>
            <a:ext cx="6858000" cy="523220"/>
          </a:xfrm>
          <a:prstGeom prst="rect">
            <a:avLst/>
          </a:prstGeom>
          <a:noFill/>
        </p:spPr>
        <p:txBody>
          <a:bodyPr wrap="square" lIns="0" tIns="0" rIns="0" bIns="0">
            <a:spAutoFit/>
          </a:bodyPr>
          <a:lstStyle/>
          <a:p>
            <a:pPr>
              <a:defRPr sz="3400" b="0">
                <a:solidFill>
                  <a:srgbClr val="191919"/>
                </a:solidFill>
                <a:latin typeface="Aptos Display"/>
              </a:defRPr>
            </a:pPr>
            <a:r>
              <a:rPr dirty="0"/>
              <a:t>Problem Statement</a:t>
            </a:r>
          </a:p>
        </p:txBody>
      </p:sp>
      <p:sp>
        <p:nvSpPr>
          <p:cNvPr id="3" name="Rectangle 2"/>
          <p:cNvSpPr/>
          <p:nvPr/>
        </p:nvSpPr>
        <p:spPr>
          <a:xfrm>
            <a:off x="749808" y="1078992"/>
            <a:ext cx="1572768" cy="41148"/>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1352178"/>
            <a:ext cx="10607040" cy="207749"/>
          </a:xfrm>
          <a:prstGeom prst="rect">
            <a:avLst/>
          </a:prstGeom>
          <a:noFill/>
        </p:spPr>
        <p:txBody>
          <a:bodyPr wrap="square" lIns="0" tIns="0" rIns="0" bIns="0">
            <a:spAutoFit/>
          </a:bodyPr>
          <a:lstStyle/>
          <a:p>
            <a:pPr>
              <a:defRPr sz="1350" b="0">
                <a:solidFill>
                  <a:srgbClr val="191919"/>
                </a:solidFill>
                <a:latin typeface="Aptos"/>
              </a:defRPr>
            </a:pPr>
            <a:r>
              <a:rPr dirty="0"/>
              <a:t>Manufacturing data is generated from multiple sources such as MES, PLM and reference datasets.</a:t>
            </a:r>
          </a:p>
        </p:txBody>
      </p:sp>
      <p:sp>
        <p:nvSpPr>
          <p:cNvPr id="5" name="TextBox 4"/>
          <p:cNvSpPr txBox="1"/>
          <p:nvPr/>
        </p:nvSpPr>
        <p:spPr>
          <a:xfrm>
            <a:off x="749808" y="1620801"/>
            <a:ext cx="10607040" cy="207749"/>
          </a:xfrm>
          <a:prstGeom prst="rect">
            <a:avLst/>
          </a:prstGeom>
          <a:noFill/>
        </p:spPr>
        <p:txBody>
          <a:bodyPr wrap="square" lIns="0" tIns="0" rIns="0" bIns="0">
            <a:spAutoFit/>
          </a:bodyPr>
          <a:lstStyle/>
          <a:p>
            <a:pPr>
              <a:defRPr sz="1350" b="0">
                <a:solidFill>
                  <a:srgbClr val="191919"/>
                </a:solidFill>
                <a:latin typeface="Aptos"/>
              </a:defRPr>
            </a:pPr>
            <a:r>
              <a:rPr dirty="0"/>
              <a:t>These datasets contain production orders, machine logs, downtime events, product information and engineering change information.</a:t>
            </a:r>
          </a:p>
        </p:txBody>
      </p:sp>
      <p:sp>
        <p:nvSpPr>
          <p:cNvPr id="6" name="TextBox 5"/>
          <p:cNvSpPr txBox="1"/>
          <p:nvPr/>
        </p:nvSpPr>
        <p:spPr>
          <a:xfrm>
            <a:off x="749808" y="2055727"/>
            <a:ext cx="3657600" cy="207749"/>
          </a:xfrm>
          <a:prstGeom prst="rect">
            <a:avLst/>
          </a:prstGeom>
          <a:noFill/>
        </p:spPr>
        <p:txBody>
          <a:bodyPr wrap="square" lIns="0" tIns="0" rIns="0" bIns="0">
            <a:spAutoFit/>
          </a:bodyPr>
          <a:lstStyle/>
          <a:p>
            <a:pPr>
              <a:defRPr sz="1350" b="1">
                <a:solidFill>
                  <a:srgbClr val="191919"/>
                </a:solidFill>
                <a:latin typeface="Aptos"/>
              </a:defRPr>
            </a:pPr>
            <a:r>
              <a:rPr dirty="0"/>
              <a:t>The challenge is to:</a:t>
            </a:r>
          </a:p>
        </p:txBody>
      </p:sp>
      <p:sp>
        <p:nvSpPr>
          <p:cNvPr id="7" name="TextBox 6"/>
          <p:cNvSpPr txBox="1"/>
          <p:nvPr/>
        </p:nvSpPr>
        <p:spPr>
          <a:xfrm>
            <a:off x="713232" y="2351922"/>
            <a:ext cx="10515600" cy="1038746"/>
          </a:xfrm>
          <a:prstGeom prst="rect">
            <a:avLst/>
          </a:prstGeom>
          <a:noFill/>
        </p:spPr>
        <p:txBody>
          <a:bodyPr wrap="square" lIns="0" tIns="0" rIns="0" bIns="0">
            <a:spAutoFit/>
          </a:bodyPr>
          <a:lstStyle/>
          <a:p>
            <a:pPr>
              <a:defRPr sz="1350" b="0">
                <a:solidFill>
                  <a:srgbClr val="191919"/>
                </a:solidFill>
                <a:latin typeface="Aptos"/>
              </a:defRPr>
            </a:pPr>
            <a:r>
              <a:rPr dirty="0"/>
              <a:t>•  Bring data from different sources into a common pipeline.</a:t>
            </a:r>
            <a:br>
              <a:rPr dirty="0"/>
            </a:br>
            <a:r>
              <a:rPr dirty="0"/>
              <a:t>•  Validate and clean incoming data.</a:t>
            </a:r>
            <a:br>
              <a:rPr dirty="0"/>
            </a:br>
            <a:r>
              <a:rPr dirty="0"/>
              <a:t>•  Transform raw operational data into meaningful production KPIs.</a:t>
            </a:r>
            <a:br>
              <a:rPr dirty="0"/>
            </a:br>
            <a:r>
              <a:rPr dirty="0"/>
              <a:t>•  Store processed data in a structured analytical database.</a:t>
            </a:r>
            <a:br>
              <a:rPr dirty="0"/>
            </a:br>
            <a:r>
              <a:rPr dirty="0"/>
              <a:t>•  Provide an interactive dashboard for production and engineering analysis.</a:t>
            </a:r>
          </a:p>
        </p:txBody>
      </p:sp>
      <p:sp>
        <p:nvSpPr>
          <p:cNvPr id="8" name="TextBox 7"/>
          <p:cNvSpPr txBox="1"/>
          <p:nvPr/>
        </p:nvSpPr>
        <p:spPr>
          <a:xfrm>
            <a:off x="713232" y="3751104"/>
            <a:ext cx="3840480" cy="523220"/>
          </a:xfrm>
          <a:prstGeom prst="rect">
            <a:avLst/>
          </a:prstGeom>
          <a:noFill/>
        </p:spPr>
        <p:txBody>
          <a:bodyPr wrap="square" lIns="0" tIns="0" rIns="0" bIns="0">
            <a:spAutoFit/>
          </a:bodyPr>
          <a:lstStyle/>
          <a:p>
            <a:pPr>
              <a:defRPr sz="2500" b="0">
                <a:solidFill>
                  <a:srgbClr val="191919"/>
                </a:solidFill>
                <a:latin typeface="Aptos Display"/>
              </a:defRPr>
            </a:pPr>
            <a:r>
              <a:rPr sz="3400" dirty="0"/>
              <a:t>Project Objective</a:t>
            </a:r>
          </a:p>
        </p:txBody>
      </p:sp>
      <p:sp>
        <p:nvSpPr>
          <p:cNvPr id="9" name="TextBox 8"/>
          <p:cNvSpPr txBox="1"/>
          <p:nvPr/>
        </p:nvSpPr>
        <p:spPr>
          <a:xfrm>
            <a:off x="713232" y="4630354"/>
            <a:ext cx="10607040" cy="1508760"/>
          </a:xfrm>
          <a:prstGeom prst="rect">
            <a:avLst/>
          </a:prstGeom>
          <a:noFill/>
        </p:spPr>
        <p:txBody>
          <a:bodyPr wrap="square" lIns="0" tIns="0" rIns="0" bIns="0">
            <a:spAutoFit/>
          </a:bodyPr>
          <a:lstStyle/>
          <a:p>
            <a:pPr>
              <a:defRPr sz="1350" b="0">
                <a:solidFill>
                  <a:srgbClr val="191919"/>
                </a:solidFill>
                <a:latin typeface="Aptos"/>
              </a:defRPr>
            </a:pPr>
            <a:r>
              <a:rPr dirty="0"/>
              <a:t>•  Build an end-to-end MES–PLM data pipeline that:</a:t>
            </a:r>
            <a:br>
              <a:rPr dirty="0"/>
            </a:br>
            <a:r>
              <a:rPr dirty="0"/>
              <a:t>•  Automates data ingestion and validation.</a:t>
            </a:r>
            <a:br>
              <a:rPr dirty="0"/>
            </a:br>
            <a:r>
              <a:rPr dirty="0"/>
              <a:t>•  Converts raw data into Parquet-based landing and curated layers.</a:t>
            </a:r>
            <a:br>
              <a:rPr dirty="0"/>
            </a:br>
            <a:r>
              <a:rPr dirty="0"/>
              <a:t>•  Calculates important production KPIs such as OEE, availability, performance, quality, defect rate and cycle time.</a:t>
            </a:r>
            <a:br>
              <a:rPr dirty="0"/>
            </a:br>
            <a:r>
              <a:rPr dirty="0"/>
              <a:t>•  Loads analytical data into PostgreSQL.</a:t>
            </a:r>
            <a:br>
              <a:rPr dirty="0"/>
            </a:br>
            <a:r>
              <a:rPr dirty="0"/>
              <a:t>•  Provides interactive Power BI dashboards for decision-making.</a:t>
            </a:r>
            <a:br>
              <a:rPr dirty="0"/>
            </a:br>
            <a:r>
              <a:rPr dirty="0"/>
              <a:t>•  Introduces basic CI automation using GitHub Actions.</a:t>
            </a:r>
          </a:p>
        </p:txBody>
      </p:sp>
      <p:sp>
        <p:nvSpPr>
          <p:cNvPr id="11" name="Rectangle 10">
            <a:extLst>
              <a:ext uri="{FF2B5EF4-FFF2-40B4-BE49-F238E27FC236}">
                <a16:creationId xmlns:a16="http://schemas.microsoft.com/office/drawing/2014/main" id="{D5843879-D794-C070-A1FE-98F497D38C42}"/>
              </a:ext>
            </a:extLst>
          </p:cNvPr>
          <p:cNvSpPr/>
          <p:nvPr/>
        </p:nvSpPr>
        <p:spPr>
          <a:xfrm>
            <a:off x="713232" y="4380366"/>
            <a:ext cx="1572768" cy="41148"/>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1074" y="1396686"/>
            <a:ext cx="3240506" cy="4064628"/>
          </a:xfrm>
        </p:spPr>
        <p:txBody>
          <a:bodyPr vert="horz" lIns="91440" tIns="45720" rIns="91440" bIns="45720" rtlCol="0" anchor="ctr">
            <a:normAutofit/>
          </a:bodyPr>
          <a:lstStyle/>
          <a:p>
            <a:pPr algn="l" defTabSz="914400">
              <a:lnSpc>
                <a:spcPct val="90000"/>
              </a:lnSpc>
            </a:pPr>
            <a:r>
              <a:rPr lang="en-US" kern="1200">
                <a:solidFill>
                  <a:srgbClr val="FFFFFF"/>
                </a:solidFill>
                <a:latin typeface="+mj-lt"/>
                <a:ea typeface="+mj-ea"/>
                <a:cs typeface="+mj-cs"/>
              </a:rPr>
              <a:t>End-to-End Architecture</a:t>
            </a:r>
          </a:p>
        </p:txBody>
      </p:sp>
      <p:sp>
        <p:nvSpPr>
          <p:cNvPr id="22" name="Arc 21" hidden="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4" name="Oval 23" hidden="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TextBox 2"/>
          <p:cNvSpPr txBox="1"/>
          <p:nvPr/>
        </p:nvSpPr>
        <p:spPr>
          <a:xfrm>
            <a:off x="5995332" y="1119031"/>
            <a:ext cx="5536397" cy="4619938"/>
          </a:xfrm>
          <a:prstGeom prst="rect">
            <a:avLst/>
          </a:prstGeom>
        </p:spPr>
        <p:txBody>
          <a:bodyPr vert="horz" lIns="91440" tIns="45720" rIns="91440" bIns="45720" rtlCol="0">
            <a:normAutofit fontScale="25000" lnSpcReduction="20000"/>
          </a:bodyPr>
          <a:lstStyle/>
          <a:p>
            <a:pPr defTabSz="914400">
              <a:lnSpc>
                <a:spcPct val="90000"/>
              </a:lnSpc>
              <a:spcAft>
                <a:spcPts val="1000"/>
              </a:spcAft>
              <a:defRPr sz="2000"/>
            </a:pPr>
            <a:r>
              <a:rPr lang="en-US" sz="1400" dirty="0"/>
              <a:t>                                                                         </a:t>
            </a:r>
            <a:r>
              <a:rPr lang="en-US" sz="8000" dirty="0"/>
              <a:t>Raw Data Sources                                       </a:t>
            </a:r>
          </a:p>
          <a:p>
            <a:pPr defTabSz="914400">
              <a:lnSpc>
                <a:spcPct val="90000"/>
              </a:lnSpc>
              <a:spcAft>
                <a:spcPts val="1000"/>
              </a:spcAft>
              <a:defRPr sz="2000"/>
            </a:pPr>
            <a:r>
              <a:rPr lang="en-US" sz="8000" dirty="0"/>
              <a:t>                            ↓</a:t>
            </a:r>
          </a:p>
          <a:p>
            <a:pPr defTabSz="914400">
              <a:lnSpc>
                <a:spcPct val="90000"/>
              </a:lnSpc>
              <a:spcAft>
                <a:spcPts val="1000"/>
              </a:spcAft>
              <a:defRPr sz="2000"/>
            </a:pPr>
            <a:r>
              <a:rPr lang="en-US" sz="8000" dirty="0"/>
              <a:t>           Validation &amp; Ingestion                               </a:t>
            </a:r>
          </a:p>
          <a:p>
            <a:pPr defTabSz="914400">
              <a:lnSpc>
                <a:spcPct val="90000"/>
              </a:lnSpc>
              <a:spcAft>
                <a:spcPts val="1000"/>
              </a:spcAft>
              <a:defRPr sz="2000"/>
            </a:pPr>
            <a:r>
              <a:rPr lang="en-US" sz="8000" dirty="0"/>
              <a:t>                            ↓</a:t>
            </a:r>
          </a:p>
          <a:p>
            <a:pPr defTabSz="914400">
              <a:lnSpc>
                <a:spcPct val="90000"/>
              </a:lnSpc>
              <a:spcAft>
                <a:spcPts val="1000"/>
              </a:spcAft>
              <a:defRPr sz="2000"/>
            </a:pPr>
            <a:r>
              <a:rPr lang="en-US" sz="8000" dirty="0"/>
              <a:t>          Landing - Parquet Files</a:t>
            </a:r>
          </a:p>
          <a:p>
            <a:pPr defTabSz="914400">
              <a:lnSpc>
                <a:spcPct val="90000"/>
              </a:lnSpc>
              <a:spcAft>
                <a:spcPts val="1000"/>
              </a:spcAft>
              <a:defRPr sz="2000"/>
            </a:pPr>
            <a:r>
              <a:rPr lang="en-US" sz="8000" dirty="0"/>
              <a:t>                            ↓</a:t>
            </a:r>
          </a:p>
          <a:p>
            <a:pPr defTabSz="914400">
              <a:lnSpc>
                <a:spcPct val="90000"/>
              </a:lnSpc>
              <a:spcAft>
                <a:spcPts val="1000"/>
              </a:spcAft>
              <a:defRPr sz="2000"/>
            </a:pPr>
            <a:r>
              <a:rPr lang="en-US" sz="8000" dirty="0"/>
              <a:t>Transformation &amp; KPI Calculation</a:t>
            </a:r>
          </a:p>
          <a:p>
            <a:pPr defTabSz="914400">
              <a:lnSpc>
                <a:spcPct val="90000"/>
              </a:lnSpc>
              <a:spcAft>
                <a:spcPts val="1000"/>
              </a:spcAft>
              <a:defRPr sz="2000"/>
            </a:pPr>
            <a:r>
              <a:rPr lang="en-US" sz="8000" dirty="0"/>
              <a:t>                            ↓</a:t>
            </a:r>
          </a:p>
          <a:p>
            <a:pPr defTabSz="914400">
              <a:lnSpc>
                <a:spcPct val="90000"/>
              </a:lnSpc>
              <a:spcAft>
                <a:spcPts val="1000"/>
              </a:spcAft>
              <a:defRPr sz="2000"/>
            </a:pPr>
            <a:r>
              <a:rPr lang="en-US" sz="8000" dirty="0"/>
              <a:t>            Curated KPI Dataset</a:t>
            </a:r>
          </a:p>
          <a:p>
            <a:pPr defTabSz="914400">
              <a:lnSpc>
                <a:spcPct val="90000"/>
              </a:lnSpc>
              <a:spcAft>
                <a:spcPts val="1000"/>
              </a:spcAft>
              <a:defRPr sz="2000"/>
            </a:pPr>
            <a:r>
              <a:rPr lang="en-US" sz="8000" dirty="0"/>
              <a:t>                            ↓</a:t>
            </a:r>
          </a:p>
          <a:p>
            <a:pPr defTabSz="914400">
              <a:lnSpc>
                <a:spcPct val="90000"/>
              </a:lnSpc>
              <a:spcAft>
                <a:spcPts val="1000"/>
              </a:spcAft>
              <a:defRPr sz="2000"/>
            </a:pPr>
            <a:r>
              <a:rPr lang="en-US" sz="8000" dirty="0"/>
              <a:t>       PostgreSQL - Analytics Layer</a:t>
            </a:r>
          </a:p>
          <a:p>
            <a:pPr defTabSz="914400">
              <a:lnSpc>
                <a:spcPct val="90000"/>
              </a:lnSpc>
              <a:spcAft>
                <a:spcPts val="1000"/>
              </a:spcAft>
              <a:defRPr sz="2000"/>
            </a:pPr>
            <a:r>
              <a:rPr lang="en-US" sz="8000" dirty="0"/>
              <a:t>                            ↓      </a:t>
            </a:r>
          </a:p>
          <a:p>
            <a:pPr defTabSz="914400">
              <a:lnSpc>
                <a:spcPct val="90000"/>
              </a:lnSpc>
              <a:spcAft>
                <a:spcPts val="1000"/>
              </a:spcAft>
              <a:defRPr sz="2000"/>
            </a:pPr>
            <a:r>
              <a:rPr lang="en-US" sz="8000" dirty="0"/>
              <a:t>          Power BI-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pPr algn="l" defTabSz="914400">
              <a:lnSpc>
                <a:spcPct val="90000"/>
              </a:lnSpc>
            </a:pPr>
            <a:r>
              <a:rPr lang="en-US" kern="1200">
                <a:solidFill>
                  <a:srgbClr val="FFFFFF"/>
                </a:solidFill>
                <a:latin typeface="+mj-lt"/>
                <a:ea typeface="+mj-ea"/>
                <a:cs typeface="+mj-cs"/>
              </a:rPr>
              <a:t>Data Sources &amp; Datasets</a:t>
            </a:r>
          </a:p>
        </p:txBody>
      </p:sp>
      <p:sp>
        <p:nvSpPr>
          <p:cNvPr id="14" name="Arc 13" hidden="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a:extLst>
              <a:ext uri="{FF2B5EF4-FFF2-40B4-BE49-F238E27FC236}">
                <a16:creationId xmlns:a16="http://schemas.microsoft.com/office/drawing/2014/main" id="{0E8EC40D-9FCB-F0B4-2887-65C51D593B35}"/>
              </a:ext>
            </a:extLst>
          </p:cNvPr>
          <p:cNvSpPr txBox="1"/>
          <p:nvPr/>
        </p:nvSpPr>
        <p:spPr>
          <a:xfrm>
            <a:off x="4346640" y="591344"/>
            <a:ext cx="6906491" cy="5585619"/>
          </a:xfrm>
          <a:prstGeom prst="rect">
            <a:avLst/>
          </a:prstGeom>
        </p:spPr>
        <p:txBody>
          <a:bodyPr vert="horz" lIns="91440" tIns="45720" rIns="91440" bIns="45720" rtlCol="0" anchor="ctr">
            <a:normAutofit/>
          </a:bodyPr>
          <a:lstStyle/>
          <a:p>
            <a:pPr defTabSz="914400">
              <a:lnSpc>
                <a:spcPct val="90000"/>
              </a:lnSpc>
              <a:spcAft>
                <a:spcPts val="600"/>
              </a:spcAft>
            </a:pPr>
            <a:r>
              <a:rPr lang="en-US" sz="1300" b="1" dirty="0"/>
              <a:t>   MES - Manufacturing Execution System</a:t>
            </a:r>
          </a:p>
          <a:p>
            <a:pPr marL="342900" lvl="0" indent="-228600" defTabSz="914400">
              <a:lnSpc>
                <a:spcPct val="90000"/>
              </a:lnSpc>
              <a:spcAft>
                <a:spcPts val="600"/>
              </a:spcAft>
              <a:buFont typeface="Arial" panose="020B0604020202020204" pitchFamily="34" charset="0"/>
              <a:buChar char="•"/>
            </a:pPr>
            <a:r>
              <a:rPr lang="en-US" sz="1300" dirty="0"/>
              <a:t>machine_logs.csv </a:t>
            </a:r>
          </a:p>
          <a:p>
            <a:pPr marL="342900" lvl="0" indent="-228600" defTabSz="914400">
              <a:lnSpc>
                <a:spcPct val="90000"/>
              </a:lnSpc>
              <a:spcAft>
                <a:spcPts val="600"/>
              </a:spcAft>
              <a:buFont typeface="Arial" panose="020B0604020202020204" pitchFamily="34" charset="0"/>
              <a:buChar char="•"/>
            </a:pPr>
            <a:r>
              <a:rPr lang="en-US" sz="1300" dirty="0"/>
              <a:t>production_orders.csv </a:t>
            </a:r>
          </a:p>
          <a:p>
            <a:pPr marL="342900" lvl="0" indent="-228600" defTabSz="914400">
              <a:lnSpc>
                <a:spcPct val="90000"/>
              </a:lnSpc>
              <a:spcAft>
                <a:spcPts val="600"/>
              </a:spcAft>
              <a:buFont typeface="Arial" panose="020B0604020202020204" pitchFamily="34" charset="0"/>
              <a:buChar char="•"/>
            </a:pPr>
            <a:r>
              <a:rPr lang="en-US" sz="1300" dirty="0"/>
              <a:t>downtime_events.csv </a:t>
            </a:r>
          </a:p>
          <a:p>
            <a:pPr defTabSz="914400">
              <a:lnSpc>
                <a:spcPct val="90000"/>
              </a:lnSpc>
              <a:spcAft>
                <a:spcPts val="600"/>
              </a:spcAft>
            </a:pPr>
            <a:r>
              <a:rPr lang="en-US" sz="1300" dirty="0"/>
              <a:t>  Used for analyzing:</a:t>
            </a:r>
          </a:p>
          <a:p>
            <a:pPr defTabSz="914400">
              <a:lnSpc>
                <a:spcPct val="90000"/>
              </a:lnSpc>
              <a:spcAft>
                <a:spcPts val="600"/>
              </a:spcAft>
            </a:pPr>
            <a:r>
              <a:rPr lang="en-US" sz="1300" dirty="0"/>
              <a:t>  - Machine activity and Production quantities </a:t>
            </a:r>
          </a:p>
          <a:p>
            <a:pPr lvl="0" defTabSz="914400">
              <a:lnSpc>
                <a:spcPct val="90000"/>
              </a:lnSpc>
              <a:spcAft>
                <a:spcPts val="600"/>
              </a:spcAft>
            </a:pPr>
            <a:r>
              <a:rPr lang="en-US" sz="1300" dirty="0"/>
              <a:t>  - Cycle time ,Downtime and Production performance </a:t>
            </a:r>
          </a:p>
          <a:p>
            <a:pPr marL="342900" lvl="0" indent="-228600" defTabSz="914400">
              <a:lnSpc>
                <a:spcPct val="90000"/>
              </a:lnSpc>
              <a:spcAft>
                <a:spcPts val="600"/>
              </a:spcAft>
              <a:buFont typeface="Arial" panose="020B0604020202020204" pitchFamily="34" charset="0"/>
              <a:buChar char="•"/>
            </a:pPr>
            <a:endParaRPr lang="en-US" sz="1300" dirty="0"/>
          </a:p>
          <a:p>
            <a:pPr defTabSz="914400">
              <a:lnSpc>
                <a:spcPct val="90000"/>
              </a:lnSpc>
              <a:spcAft>
                <a:spcPts val="600"/>
              </a:spcAft>
            </a:pPr>
            <a:r>
              <a:rPr lang="en-US" sz="1300" b="1" dirty="0"/>
              <a:t>   PLM - Product Lifecycle Management</a:t>
            </a:r>
          </a:p>
          <a:p>
            <a:pPr marL="342900" lvl="0" indent="-228600" defTabSz="914400">
              <a:lnSpc>
                <a:spcPct val="90000"/>
              </a:lnSpc>
              <a:spcAft>
                <a:spcPts val="600"/>
              </a:spcAft>
              <a:buFont typeface="Arial" panose="020B0604020202020204" pitchFamily="34" charset="0"/>
              <a:buChar char="•"/>
            </a:pPr>
            <a:r>
              <a:rPr lang="en-US" sz="1300" dirty="0"/>
              <a:t>bom.csv </a:t>
            </a:r>
          </a:p>
          <a:p>
            <a:pPr marL="342900" lvl="0" indent="-228600" defTabSz="914400">
              <a:lnSpc>
                <a:spcPct val="90000"/>
              </a:lnSpc>
              <a:spcAft>
                <a:spcPts val="600"/>
              </a:spcAft>
              <a:buFont typeface="Arial" panose="020B0604020202020204" pitchFamily="34" charset="0"/>
              <a:buChar char="•"/>
            </a:pPr>
            <a:r>
              <a:rPr lang="en-US" sz="1300" dirty="0"/>
              <a:t>product_metadata.csv </a:t>
            </a:r>
          </a:p>
          <a:p>
            <a:pPr marL="342900" lvl="0" indent="-228600" defTabSz="914400">
              <a:lnSpc>
                <a:spcPct val="90000"/>
              </a:lnSpc>
              <a:spcAft>
                <a:spcPts val="600"/>
              </a:spcAft>
              <a:buFont typeface="Arial" panose="020B0604020202020204" pitchFamily="34" charset="0"/>
              <a:buChar char="•"/>
            </a:pPr>
            <a:r>
              <a:rPr lang="en-US" sz="1300" dirty="0"/>
              <a:t>ecn_requests.csv </a:t>
            </a:r>
          </a:p>
          <a:p>
            <a:pPr defTabSz="914400">
              <a:lnSpc>
                <a:spcPct val="90000"/>
              </a:lnSpc>
              <a:spcAft>
                <a:spcPts val="600"/>
              </a:spcAft>
            </a:pPr>
            <a:r>
              <a:rPr lang="en-US" sz="1300" dirty="0"/>
              <a:t>   Used for:</a:t>
            </a:r>
          </a:p>
          <a:p>
            <a:pPr lvl="0" defTabSz="914400">
              <a:lnSpc>
                <a:spcPct val="90000"/>
              </a:lnSpc>
              <a:spcAft>
                <a:spcPts val="600"/>
              </a:spcAft>
            </a:pPr>
            <a:r>
              <a:rPr lang="en-US" sz="1300" dirty="0"/>
              <a:t>   - Product and BOM-related information</a:t>
            </a:r>
          </a:p>
          <a:p>
            <a:pPr lvl="0" defTabSz="914400">
              <a:lnSpc>
                <a:spcPct val="90000"/>
              </a:lnSpc>
              <a:spcAft>
                <a:spcPts val="600"/>
              </a:spcAft>
            </a:pPr>
            <a:r>
              <a:rPr lang="en-US" sz="1300" dirty="0"/>
              <a:t>   - Engineering Change Requests and analysis</a:t>
            </a:r>
          </a:p>
          <a:p>
            <a:pPr marL="342900" lvl="0" indent="-228600" defTabSz="914400">
              <a:lnSpc>
                <a:spcPct val="90000"/>
              </a:lnSpc>
              <a:spcAft>
                <a:spcPts val="600"/>
              </a:spcAft>
              <a:buFont typeface="Arial" panose="020B0604020202020204" pitchFamily="34" charset="0"/>
              <a:buChar char="•"/>
            </a:pPr>
            <a:endParaRPr lang="en-US" sz="1300" dirty="0"/>
          </a:p>
          <a:p>
            <a:pPr defTabSz="914400">
              <a:lnSpc>
                <a:spcPct val="90000"/>
              </a:lnSpc>
              <a:spcAft>
                <a:spcPts val="600"/>
              </a:spcAft>
            </a:pPr>
            <a:r>
              <a:rPr lang="en-US" sz="1300" b="1" dirty="0"/>
              <a:t>  Reference Data</a:t>
            </a:r>
          </a:p>
          <a:p>
            <a:pPr marL="285750" indent="-228600" defTabSz="914400">
              <a:lnSpc>
                <a:spcPct val="90000"/>
              </a:lnSpc>
              <a:spcAft>
                <a:spcPts val="600"/>
              </a:spcAft>
              <a:buFont typeface="Arial" panose="020B0604020202020204" pitchFamily="34" charset="0"/>
              <a:buChar char="•"/>
            </a:pPr>
            <a:r>
              <a:rPr lang="en-US" sz="1300" dirty="0"/>
              <a:t>electrolyser_reference.csv</a:t>
            </a:r>
          </a:p>
          <a:p>
            <a:pPr defTabSz="914400">
              <a:lnSpc>
                <a:spcPct val="90000"/>
              </a:lnSpc>
              <a:spcAft>
                <a:spcPts val="600"/>
              </a:spcAft>
            </a:pPr>
            <a:r>
              <a:rPr lang="en-US" sz="1300" dirty="0"/>
              <a:t>  - Used as a reference dataset for calculating the Ideal Cycle Time during KPI transformation.</a:t>
            </a:r>
          </a:p>
          <a:p>
            <a:pPr defTabSz="914400">
              <a:lnSpc>
                <a:spcPct val="90000"/>
              </a:lnSpc>
              <a:spcAft>
                <a:spcPts val="600"/>
              </a:spcAft>
            </a:pPr>
            <a:r>
              <a:rPr lang="en-US" sz="1300" dirty="0"/>
              <a:t>The reference values are used to determine the expected/ideal production cycle time, which is then used in downstream performance and OEE calculations.</a:t>
            </a:r>
          </a:p>
          <a:p>
            <a:pPr marL="342900" lvl="0" indent="-228600" defTabSz="914400">
              <a:lnSpc>
                <a:spcPct val="90000"/>
              </a:lnSpc>
              <a:spcAft>
                <a:spcPts val="600"/>
              </a:spcAft>
              <a:buFont typeface="Arial" panose="020B0604020202020204" pitchFamily="34" charset="0"/>
              <a:buChar char="•"/>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3883755" cy="538609"/>
          </a:xfrm>
          <a:prstGeom prst="rect">
            <a:avLst/>
          </a:prstGeom>
          <a:noFill/>
        </p:spPr>
        <p:txBody>
          <a:bodyPr wrap="none">
            <a:spAutoFit/>
          </a:bodyPr>
          <a:lstStyle/>
          <a:p>
            <a:pPr>
              <a:defRPr sz="2900" b="0">
                <a:solidFill>
                  <a:srgbClr val="191919"/>
                </a:solidFill>
                <a:latin typeface="Aptos Display"/>
              </a:defRPr>
            </a:pPr>
            <a:r>
              <a:rPr dirty="0"/>
              <a:t>Data Ingestion &amp; Landing</a:t>
            </a:r>
          </a:p>
        </p:txBody>
      </p:sp>
      <p:sp>
        <p:nvSpPr>
          <p:cNvPr id="3" name="Rectangle 2"/>
          <p:cNvSpPr/>
          <p:nvPr/>
        </p:nvSpPr>
        <p:spPr>
          <a:xfrm>
            <a:off x="621792" y="1051559"/>
            <a:ext cx="1207008" cy="45719"/>
          </a:xfrm>
          <a:prstGeom prst="rect">
            <a:avLst/>
          </a:prstGeom>
          <a:solidFill>
            <a:srgbClr val="BE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5889" y="1170432"/>
            <a:ext cx="1920462" cy="430887"/>
          </a:xfrm>
          <a:prstGeom prst="rect">
            <a:avLst/>
          </a:prstGeom>
          <a:noFill/>
        </p:spPr>
        <p:txBody>
          <a:bodyPr wrap="none">
            <a:spAutoFit/>
          </a:bodyPr>
          <a:lstStyle/>
          <a:p>
            <a:pPr algn="ctr">
              <a:defRPr sz="2200">
                <a:solidFill>
                  <a:srgbClr val="191919"/>
                </a:solidFill>
                <a:latin typeface="Aptos Display"/>
              </a:defRPr>
            </a:pPr>
            <a:r>
              <a:rPr dirty="0"/>
              <a:t>Ingestion Steps</a:t>
            </a:r>
          </a:p>
        </p:txBody>
      </p:sp>
      <p:sp>
        <p:nvSpPr>
          <p:cNvPr id="5" name="TextBox 4"/>
          <p:cNvSpPr txBox="1"/>
          <p:nvPr/>
        </p:nvSpPr>
        <p:spPr>
          <a:xfrm>
            <a:off x="8167173" y="1170432"/>
            <a:ext cx="1130694" cy="430887"/>
          </a:xfrm>
          <a:prstGeom prst="rect">
            <a:avLst/>
          </a:prstGeom>
          <a:noFill/>
        </p:spPr>
        <p:txBody>
          <a:bodyPr wrap="none">
            <a:spAutoFit/>
          </a:bodyPr>
          <a:lstStyle/>
          <a:p>
            <a:pPr algn="ctr">
              <a:defRPr sz="2200">
                <a:solidFill>
                  <a:srgbClr val="191919"/>
                </a:solidFill>
                <a:latin typeface="Aptos Display"/>
              </a:defRPr>
            </a:pPr>
            <a:r>
              <a:rPr dirty="0"/>
              <a:t>Landing </a:t>
            </a:r>
          </a:p>
        </p:txBody>
      </p:sp>
      <p:sp>
        <p:nvSpPr>
          <p:cNvPr id="6" name="Rounded Rectangle 5"/>
          <p:cNvSpPr/>
          <p:nvPr/>
        </p:nvSpPr>
        <p:spPr>
          <a:xfrm>
            <a:off x="960120" y="1627632"/>
            <a:ext cx="4617720" cy="4434840"/>
          </a:xfrm>
          <a:prstGeom prst="roundRect">
            <a:avLst/>
          </a:prstGeom>
          <a:solidFill>
            <a:srgbClr val="FFFFFF"/>
          </a:solidFill>
          <a:ln w="15240">
            <a:solidFill>
              <a:srgbClr val="CDCAC6"/>
            </a:solidFill>
          </a:ln>
        </p:spPr>
        <p:style>
          <a:lnRef idx="1">
            <a:schemeClr val="accent1"/>
          </a:lnRef>
          <a:fillRef idx="3">
            <a:schemeClr val="accent1"/>
          </a:fillRef>
          <a:effectRef idx="2">
            <a:schemeClr val="accent1"/>
          </a:effectRef>
          <a:fontRef idx="minor">
            <a:schemeClr val="lt1"/>
          </a:fontRef>
        </p:style>
        <p:txBody>
          <a:bodyPr lIns="201168" tIns="146304" rIns="164592" bIns="109728" rtlCol="0" anchor="ctr"/>
          <a:lstStyle/>
          <a:p>
            <a:pPr algn="ctr">
              <a:defRPr sz="1900" b="1">
                <a:solidFill>
                  <a:srgbClr val="191919"/>
                </a:solidFill>
                <a:latin typeface="Aptos"/>
              </a:defRPr>
            </a:pPr>
            <a:endParaRPr dirty="0"/>
          </a:p>
        </p:txBody>
      </p:sp>
      <p:sp>
        <p:nvSpPr>
          <p:cNvPr id="7" name="Rounded Rectangle 6"/>
          <p:cNvSpPr/>
          <p:nvPr/>
        </p:nvSpPr>
        <p:spPr>
          <a:xfrm>
            <a:off x="6355080" y="1627632"/>
            <a:ext cx="4617720" cy="4434840"/>
          </a:xfrm>
          <a:prstGeom prst="roundRect">
            <a:avLst/>
          </a:prstGeom>
          <a:solidFill>
            <a:srgbClr val="FFFFFF"/>
          </a:solidFill>
          <a:ln w="15240">
            <a:solidFill>
              <a:srgbClr val="CDCAC6"/>
            </a:solidFill>
          </a:ln>
        </p:spPr>
        <p:style>
          <a:lnRef idx="1">
            <a:schemeClr val="accent1"/>
          </a:lnRef>
          <a:fillRef idx="3">
            <a:schemeClr val="accent1"/>
          </a:fillRef>
          <a:effectRef idx="2">
            <a:schemeClr val="accent1"/>
          </a:effectRef>
          <a:fontRef idx="minor">
            <a:schemeClr val="lt1"/>
          </a:fontRef>
        </p:style>
        <p:txBody>
          <a:bodyPr lIns="201168" tIns="146304" rIns="164592" bIns="109728" rtlCol="0" anchor="ctr"/>
          <a:lstStyle/>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lang="en-IN" dirty="0"/>
          </a:p>
          <a:p>
            <a:pPr algn="ctr">
              <a:defRPr sz="1900" b="1">
                <a:solidFill>
                  <a:srgbClr val="191919"/>
                </a:solidFill>
                <a:latin typeface="Aptos"/>
              </a:defRPr>
            </a:pPr>
            <a:endParaRPr dirty="0"/>
          </a:p>
        </p:txBody>
      </p:sp>
      <p:sp>
        <p:nvSpPr>
          <p:cNvPr id="8" name="TextBox 7">
            <a:extLst>
              <a:ext uri="{FF2B5EF4-FFF2-40B4-BE49-F238E27FC236}">
                <a16:creationId xmlns:a16="http://schemas.microsoft.com/office/drawing/2014/main" id="{F12E2B12-7277-8A9A-5357-5EDF4E8DC0CF}"/>
              </a:ext>
            </a:extLst>
          </p:cNvPr>
          <p:cNvSpPr txBox="1"/>
          <p:nvPr/>
        </p:nvSpPr>
        <p:spPr>
          <a:xfrm>
            <a:off x="6690870" y="1898687"/>
            <a:ext cx="3946145" cy="3331681"/>
          </a:xfrm>
          <a:prstGeom prst="rect">
            <a:avLst/>
          </a:prstGeom>
          <a:noFill/>
        </p:spPr>
        <p:txBody>
          <a:bodyPr wrap="none" rtlCol="0">
            <a:spAutoFit/>
          </a:bodyPr>
          <a:lstStyle/>
          <a:p>
            <a:pPr algn="ctr">
              <a:defRPr sz="1900" b="1">
                <a:solidFill>
                  <a:srgbClr val="191919"/>
                </a:solidFill>
                <a:latin typeface="Aptos"/>
              </a:defRPr>
            </a:pPr>
            <a:endParaRPr lang="en-US" dirty="0"/>
          </a:p>
          <a:p>
            <a:pPr algn="ctr">
              <a:defRPr sz="1900" b="1">
                <a:solidFill>
                  <a:srgbClr val="191919"/>
                </a:solidFill>
                <a:latin typeface="Aptos"/>
              </a:defRPr>
            </a:pPr>
            <a:endParaRPr lang="en-US" dirty="0"/>
          </a:p>
          <a:p>
            <a:pPr>
              <a:spcAft>
                <a:spcPts val="300"/>
              </a:spcAft>
              <a:defRPr sz="1500">
                <a:solidFill>
                  <a:srgbClr val="191919"/>
                </a:solidFill>
                <a:latin typeface="Aptos"/>
              </a:defRPr>
            </a:pPr>
            <a:r>
              <a:rPr lang="en-US" dirty="0"/>
              <a:t>The landing file contains Parquet versions of:</a:t>
            </a:r>
          </a:p>
          <a:p>
            <a:pPr>
              <a:spcAft>
                <a:spcPts val="300"/>
              </a:spcAft>
              <a:defRPr sz="1500">
                <a:solidFill>
                  <a:srgbClr val="191919"/>
                </a:solidFill>
                <a:latin typeface="Aptos"/>
              </a:defRPr>
            </a:pPr>
            <a:r>
              <a:rPr lang="en-US" dirty="0"/>
              <a:t>• Machine logs</a:t>
            </a:r>
          </a:p>
          <a:p>
            <a:pPr>
              <a:spcAft>
                <a:spcPts val="300"/>
              </a:spcAft>
              <a:defRPr sz="1500">
                <a:solidFill>
                  <a:srgbClr val="191919"/>
                </a:solidFill>
                <a:latin typeface="Aptos"/>
              </a:defRPr>
            </a:pPr>
            <a:r>
              <a:rPr lang="en-US" dirty="0"/>
              <a:t>• Production orders</a:t>
            </a:r>
          </a:p>
          <a:p>
            <a:pPr>
              <a:spcAft>
                <a:spcPts val="300"/>
              </a:spcAft>
              <a:defRPr sz="1500">
                <a:solidFill>
                  <a:srgbClr val="191919"/>
                </a:solidFill>
                <a:latin typeface="Aptos"/>
              </a:defRPr>
            </a:pPr>
            <a:r>
              <a:rPr lang="en-US" dirty="0"/>
              <a:t>• Downtime events</a:t>
            </a:r>
          </a:p>
          <a:p>
            <a:pPr>
              <a:spcAft>
                <a:spcPts val="300"/>
              </a:spcAft>
              <a:defRPr sz="1500">
                <a:solidFill>
                  <a:srgbClr val="191919"/>
                </a:solidFill>
                <a:latin typeface="Aptos"/>
              </a:defRPr>
            </a:pPr>
            <a:r>
              <a:rPr lang="en-US" dirty="0"/>
              <a:t>• BOM</a:t>
            </a:r>
          </a:p>
          <a:p>
            <a:pPr>
              <a:spcAft>
                <a:spcPts val="300"/>
              </a:spcAft>
              <a:defRPr sz="1500">
                <a:solidFill>
                  <a:srgbClr val="191919"/>
                </a:solidFill>
                <a:latin typeface="Aptos"/>
              </a:defRPr>
            </a:pPr>
            <a:r>
              <a:rPr lang="en-US" dirty="0"/>
              <a:t>• Product metadata</a:t>
            </a:r>
          </a:p>
          <a:p>
            <a:pPr>
              <a:spcAft>
                <a:spcPts val="300"/>
              </a:spcAft>
              <a:defRPr sz="1500">
                <a:solidFill>
                  <a:srgbClr val="191919"/>
                </a:solidFill>
                <a:latin typeface="Aptos"/>
              </a:defRPr>
            </a:pPr>
            <a:r>
              <a:rPr lang="en-US" dirty="0"/>
              <a:t>• ECN requests</a:t>
            </a:r>
          </a:p>
          <a:p>
            <a:pPr>
              <a:spcAft>
                <a:spcPts val="300"/>
              </a:spcAft>
              <a:defRPr sz="1500">
                <a:solidFill>
                  <a:srgbClr val="191919"/>
                </a:solidFill>
                <a:latin typeface="Aptos"/>
              </a:defRPr>
            </a:pPr>
            <a:r>
              <a:rPr lang="en-US" dirty="0"/>
              <a:t>• </a:t>
            </a:r>
            <a:r>
              <a:rPr lang="en-US" dirty="0" err="1"/>
              <a:t>Electrolyser</a:t>
            </a:r>
            <a:r>
              <a:rPr lang="en-US" dirty="0"/>
              <a:t> reference data</a:t>
            </a:r>
          </a:p>
          <a:p>
            <a:pPr>
              <a:spcAft>
                <a:spcPts val="300"/>
              </a:spcAft>
              <a:defRPr sz="1500">
                <a:solidFill>
                  <a:srgbClr val="191919"/>
                </a:solidFill>
                <a:latin typeface="Aptos"/>
              </a:defRPr>
            </a:pPr>
            <a:endParaRPr lang="en-US" dirty="0"/>
          </a:p>
          <a:p>
            <a:pPr>
              <a:spcAft>
                <a:spcPts val="300"/>
              </a:spcAft>
              <a:defRPr sz="1500">
                <a:solidFill>
                  <a:srgbClr val="191919"/>
                </a:solidFill>
                <a:latin typeface="Aptos"/>
              </a:defRPr>
            </a:pPr>
            <a:r>
              <a:rPr lang="en-US" dirty="0"/>
              <a:t>Stored in: data/landing</a:t>
            </a:r>
          </a:p>
        </p:txBody>
      </p:sp>
      <p:sp>
        <p:nvSpPr>
          <p:cNvPr id="9" name="TextBox 8">
            <a:extLst>
              <a:ext uri="{FF2B5EF4-FFF2-40B4-BE49-F238E27FC236}">
                <a16:creationId xmlns:a16="http://schemas.microsoft.com/office/drawing/2014/main" id="{47833E72-C44D-C2F0-B466-CD341F202078}"/>
              </a:ext>
            </a:extLst>
          </p:cNvPr>
          <p:cNvSpPr txBox="1"/>
          <p:nvPr/>
        </p:nvSpPr>
        <p:spPr>
          <a:xfrm>
            <a:off x="1101852" y="2016133"/>
            <a:ext cx="4427622" cy="3354765"/>
          </a:xfrm>
          <a:prstGeom prst="rect">
            <a:avLst/>
          </a:prstGeom>
          <a:noFill/>
        </p:spPr>
        <p:txBody>
          <a:bodyPr wrap="none" rtlCol="0">
            <a:spAutoFit/>
          </a:bodyPr>
          <a:lstStyle/>
          <a:p>
            <a:pPr>
              <a:spcAft>
                <a:spcPts val="300"/>
              </a:spcAft>
              <a:defRPr sz="1400">
                <a:solidFill>
                  <a:srgbClr val="191919"/>
                </a:solidFill>
                <a:latin typeface="Aptos"/>
              </a:defRPr>
            </a:pPr>
            <a:r>
              <a:rPr lang="en-IN" dirty="0"/>
              <a:t>Files</a:t>
            </a:r>
          </a:p>
          <a:p>
            <a:pPr>
              <a:spcAft>
                <a:spcPts val="300"/>
              </a:spcAft>
              <a:defRPr sz="1400">
                <a:solidFill>
                  <a:srgbClr val="191919"/>
                </a:solidFill>
                <a:latin typeface="Aptos"/>
              </a:defRPr>
            </a:pPr>
            <a:r>
              <a:rPr lang="en-IN" dirty="0"/>
              <a:t>ingest_mes.py</a:t>
            </a:r>
          </a:p>
          <a:p>
            <a:pPr>
              <a:spcAft>
                <a:spcPts val="300"/>
              </a:spcAft>
              <a:defRPr sz="1400">
                <a:solidFill>
                  <a:srgbClr val="191919"/>
                </a:solidFill>
                <a:latin typeface="Aptos"/>
              </a:defRPr>
            </a:pPr>
            <a:r>
              <a:rPr lang="en-IN" dirty="0"/>
              <a:t>ingest_plm.py</a:t>
            </a:r>
          </a:p>
          <a:p>
            <a:pPr>
              <a:spcAft>
                <a:spcPts val="300"/>
              </a:spcAft>
              <a:defRPr sz="1400">
                <a:solidFill>
                  <a:srgbClr val="191919"/>
                </a:solidFill>
                <a:latin typeface="Aptos"/>
              </a:defRPr>
            </a:pPr>
            <a:r>
              <a:rPr lang="en-IN" dirty="0"/>
              <a:t>ingest_electrolyser_reference.py</a:t>
            </a:r>
          </a:p>
          <a:p>
            <a:pPr>
              <a:spcAft>
                <a:spcPts val="300"/>
              </a:spcAft>
              <a:defRPr sz="1400">
                <a:solidFill>
                  <a:srgbClr val="191919"/>
                </a:solidFill>
                <a:latin typeface="Aptos"/>
              </a:defRPr>
            </a:pPr>
            <a:endParaRPr lang="en-IN" dirty="0"/>
          </a:p>
          <a:p>
            <a:pPr>
              <a:spcAft>
                <a:spcPts val="300"/>
              </a:spcAft>
              <a:defRPr sz="1400">
                <a:solidFill>
                  <a:srgbClr val="191919"/>
                </a:solidFill>
                <a:latin typeface="Aptos"/>
              </a:defRPr>
            </a:pPr>
            <a:r>
              <a:rPr lang="en-IN" dirty="0"/>
              <a:t>Processing Steps</a:t>
            </a:r>
          </a:p>
          <a:p>
            <a:pPr>
              <a:spcAft>
                <a:spcPts val="300"/>
              </a:spcAft>
              <a:defRPr sz="1400">
                <a:solidFill>
                  <a:srgbClr val="191919"/>
                </a:solidFill>
                <a:latin typeface="Aptos"/>
              </a:defRPr>
            </a:pPr>
            <a:r>
              <a:rPr lang="en-IN" dirty="0"/>
              <a:t>• Read raw CSV files.</a:t>
            </a:r>
          </a:p>
          <a:p>
            <a:pPr>
              <a:spcAft>
                <a:spcPts val="300"/>
              </a:spcAft>
              <a:defRPr sz="1400">
                <a:solidFill>
                  <a:srgbClr val="191919"/>
                </a:solidFill>
                <a:latin typeface="Aptos"/>
              </a:defRPr>
            </a:pPr>
            <a:r>
              <a:rPr lang="en-IN" dirty="0"/>
              <a:t>• Validate expected schema and columns.</a:t>
            </a:r>
          </a:p>
          <a:p>
            <a:pPr>
              <a:spcAft>
                <a:spcPts val="300"/>
              </a:spcAft>
              <a:defRPr sz="1400">
                <a:solidFill>
                  <a:srgbClr val="191919"/>
                </a:solidFill>
                <a:latin typeface="Aptos"/>
              </a:defRPr>
            </a:pPr>
            <a:r>
              <a:rPr lang="en-IN" dirty="0"/>
              <a:t>• Handle invalid or incorrect input files.</a:t>
            </a:r>
          </a:p>
          <a:p>
            <a:pPr>
              <a:spcAft>
                <a:spcPts val="300"/>
              </a:spcAft>
              <a:defRPr sz="1400">
                <a:solidFill>
                  <a:srgbClr val="191919"/>
                </a:solidFill>
                <a:latin typeface="Aptos"/>
              </a:defRPr>
            </a:pPr>
            <a:r>
              <a:rPr lang="en-IN" dirty="0"/>
              <a:t>• Convert valid datasets into Parquet format.</a:t>
            </a:r>
          </a:p>
          <a:p>
            <a:pPr>
              <a:spcAft>
                <a:spcPts val="300"/>
              </a:spcAft>
              <a:defRPr sz="1400">
                <a:solidFill>
                  <a:srgbClr val="191919"/>
                </a:solidFill>
                <a:latin typeface="Aptos"/>
              </a:defRPr>
            </a:pPr>
            <a:r>
              <a:rPr lang="en-IN" dirty="0"/>
              <a:t>• Store processed files in the landing layer.</a:t>
            </a:r>
          </a:p>
          <a:p>
            <a:pPr>
              <a:spcAft>
                <a:spcPts val="300"/>
              </a:spcAft>
              <a:defRPr sz="1400">
                <a:solidFill>
                  <a:srgbClr val="191919"/>
                </a:solidFill>
                <a:latin typeface="Aptos"/>
              </a:defRPr>
            </a:pPr>
            <a:r>
              <a:rPr lang="en-IN" dirty="0"/>
              <a:t>• Record execution information in the ingestion log.</a:t>
            </a:r>
          </a:p>
          <a:p>
            <a:pPr>
              <a:spcAft>
                <a:spcPts val="300"/>
              </a:spcAft>
              <a:defRPr sz="1400">
                <a:solidFill>
                  <a:srgbClr val="191919"/>
                </a:solidFill>
                <a:latin typeface="Aptos"/>
              </a:defRPr>
            </a:pPr>
            <a:r>
              <a:rPr lang="en-IN" dirty="0"/>
              <a:t>• Invalid files are handled separately under data/errors/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2648" y="562132"/>
            <a:ext cx="3429000" cy="1719072"/>
          </a:xfrm>
        </p:spPr>
        <p:txBody>
          <a:bodyPr vert="horz" lIns="91440" tIns="45720" rIns="91440" bIns="45720" rtlCol="0" anchor="b">
            <a:normAutofit/>
          </a:bodyPr>
          <a:lstStyle/>
          <a:p>
            <a:pPr algn="l" defTabSz="914400">
              <a:lnSpc>
                <a:spcPct val="90000"/>
              </a:lnSpc>
            </a:pPr>
            <a:r>
              <a:rPr lang="en-US" sz="3800" kern="1200">
                <a:solidFill>
                  <a:schemeClr val="tx1"/>
                </a:solidFill>
                <a:latin typeface="+mj-lt"/>
                <a:ea typeface="+mj-ea"/>
                <a:cs typeface="+mj-cs"/>
              </a:rPr>
              <a:t>Transformation &amp; KPI Computation</a:t>
            </a:r>
          </a:p>
        </p:txBody>
      </p:sp>
      <p:sp>
        <p:nvSpPr>
          <p:cNvPr id="24" name="sketch line" hidden="1">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30936" y="2807208"/>
            <a:ext cx="3429000" cy="3410712"/>
          </a:xfrm>
          <a:prstGeom prst="rect">
            <a:avLst/>
          </a:prstGeom>
        </p:spPr>
        <p:txBody>
          <a:bodyPr vert="horz" lIns="91440" tIns="45720" rIns="91440" bIns="45720" rtlCol="0" anchor="t">
            <a:normAutofit/>
          </a:bodyPr>
          <a:lstStyle/>
          <a:p>
            <a:pPr defTabSz="914400">
              <a:lnSpc>
                <a:spcPct val="90000"/>
              </a:lnSpc>
              <a:spcAft>
                <a:spcPts val="600"/>
              </a:spcAft>
            </a:pPr>
            <a:r>
              <a:rPr lang="en-US" sz="1000" b="1" dirty="0"/>
              <a:t>Transformation</a:t>
            </a:r>
          </a:p>
          <a:p>
            <a:pPr indent="-228600" defTabSz="914400">
              <a:lnSpc>
                <a:spcPct val="90000"/>
              </a:lnSpc>
              <a:spcAft>
                <a:spcPts val="600"/>
              </a:spcAft>
              <a:buFont typeface="Arial" panose="020B0604020202020204" pitchFamily="34" charset="0"/>
              <a:buChar char="•"/>
            </a:pPr>
            <a:r>
              <a:rPr lang="en-US" sz="1000" dirty="0"/>
              <a:t>The main transformation logic is implemented in:</a:t>
            </a:r>
          </a:p>
          <a:p>
            <a:pPr indent="-228600" defTabSz="914400">
              <a:lnSpc>
                <a:spcPct val="90000"/>
              </a:lnSpc>
              <a:spcAft>
                <a:spcPts val="600"/>
              </a:spcAft>
              <a:buFont typeface="Arial" panose="020B0604020202020204" pitchFamily="34" charset="0"/>
              <a:buChar char="•"/>
            </a:pPr>
            <a:r>
              <a:rPr lang="en-US" sz="1000" dirty="0"/>
              <a:t>src/transform/transform_kpis.py</a:t>
            </a:r>
          </a:p>
          <a:p>
            <a:pPr defTabSz="914400">
              <a:lnSpc>
                <a:spcPct val="90000"/>
              </a:lnSpc>
              <a:spcAft>
                <a:spcPts val="600"/>
              </a:spcAft>
            </a:pPr>
            <a:r>
              <a:rPr lang="en-US" sz="1000" b="1" dirty="0"/>
              <a:t>Major Transformation Activities</a:t>
            </a:r>
          </a:p>
          <a:p>
            <a:pPr marL="342900" lvl="0" indent="-228600" defTabSz="914400">
              <a:lnSpc>
                <a:spcPct val="90000"/>
              </a:lnSpc>
              <a:spcAft>
                <a:spcPts val="600"/>
              </a:spcAft>
              <a:buFont typeface="Arial" panose="020B0604020202020204" pitchFamily="34" charset="0"/>
              <a:buChar char="•"/>
            </a:pPr>
            <a:r>
              <a:rPr lang="en-US" sz="1000" dirty="0"/>
              <a:t>Data cleaning </a:t>
            </a:r>
          </a:p>
          <a:p>
            <a:pPr marL="342900" lvl="0" indent="-228600" defTabSz="914400">
              <a:lnSpc>
                <a:spcPct val="90000"/>
              </a:lnSpc>
              <a:spcAft>
                <a:spcPts val="600"/>
              </a:spcAft>
              <a:buFont typeface="Arial" panose="020B0604020202020204" pitchFamily="34" charset="0"/>
              <a:buChar char="•"/>
            </a:pPr>
            <a:r>
              <a:rPr lang="en-US" sz="1000" dirty="0"/>
              <a:t>Data validation </a:t>
            </a:r>
          </a:p>
          <a:p>
            <a:pPr marL="342900" lvl="0" indent="-228600" defTabSz="914400">
              <a:lnSpc>
                <a:spcPct val="90000"/>
              </a:lnSpc>
              <a:spcAft>
                <a:spcPts val="600"/>
              </a:spcAft>
              <a:buFont typeface="Arial" panose="020B0604020202020204" pitchFamily="34" charset="0"/>
              <a:buChar char="•"/>
            </a:pPr>
            <a:r>
              <a:rPr lang="en-US" sz="1000" dirty="0"/>
              <a:t>Dataset joins </a:t>
            </a:r>
          </a:p>
          <a:p>
            <a:pPr marL="342900" lvl="0" indent="-228600" defTabSz="914400">
              <a:lnSpc>
                <a:spcPct val="90000"/>
              </a:lnSpc>
              <a:spcAft>
                <a:spcPts val="600"/>
              </a:spcAft>
              <a:buFont typeface="Arial" panose="020B0604020202020204" pitchFamily="34" charset="0"/>
              <a:buChar char="•"/>
            </a:pPr>
            <a:r>
              <a:rPr lang="en-US" sz="1000" dirty="0"/>
              <a:t>Production KPI calculations </a:t>
            </a:r>
          </a:p>
          <a:p>
            <a:pPr marL="342900" lvl="0" indent="-228600" defTabSz="914400">
              <a:lnSpc>
                <a:spcPct val="90000"/>
              </a:lnSpc>
              <a:spcAft>
                <a:spcPts val="600"/>
              </a:spcAft>
              <a:buFont typeface="Arial" panose="020B0604020202020204" pitchFamily="34" charset="0"/>
              <a:buChar char="•"/>
            </a:pPr>
            <a:r>
              <a:rPr lang="en-US" sz="1000" dirty="0"/>
              <a:t>Handling production and machine-related information </a:t>
            </a:r>
          </a:p>
          <a:p>
            <a:pPr marL="342900" lvl="0" indent="-228600" defTabSz="914400">
              <a:lnSpc>
                <a:spcPct val="90000"/>
              </a:lnSpc>
              <a:spcAft>
                <a:spcPts val="600"/>
              </a:spcAft>
              <a:buFont typeface="Arial" panose="020B0604020202020204" pitchFamily="34" charset="0"/>
              <a:buChar char="•"/>
            </a:pPr>
            <a:r>
              <a:rPr lang="en-US" sz="1000" dirty="0"/>
              <a:t>Creating the curated production KPI dataset</a:t>
            </a:r>
          </a:p>
          <a:p>
            <a:pPr marL="342900" lvl="0" indent="-228600" defTabSz="914400">
              <a:lnSpc>
                <a:spcPct val="90000"/>
              </a:lnSpc>
              <a:spcAft>
                <a:spcPts val="600"/>
              </a:spcAft>
              <a:buFont typeface="Arial" panose="020B0604020202020204" pitchFamily="34" charset="0"/>
              <a:buChar char="•"/>
            </a:pPr>
            <a:endParaRPr lang="en-US" sz="1000" dirty="0"/>
          </a:p>
          <a:p>
            <a:pPr defTabSz="914400">
              <a:lnSpc>
                <a:spcPct val="90000"/>
              </a:lnSpc>
              <a:spcAft>
                <a:spcPts val="600"/>
              </a:spcAft>
            </a:pPr>
            <a:r>
              <a:rPr lang="en-US" sz="1000" b="1" dirty="0"/>
              <a:t>Curated Output</a:t>
            </a:r>
          </a:p>
          <a:p>
            <a:pPr indent="-228600" defTabSz="914400">
              <a:lnSpc>
                <a:spcPct val="90000"/>
              </a:lnSpc>
              <a:spcAft>
                <a:spcPts val="600"/>
              </a:spcAft>
              <a:buFont typeface="Arial" panose="020B0604020202020204" pitchFamily="34" charset="0"/>
              <a:buChar char="•"/>
            </a:pPr>
            <a:r>
              <a:rPr lang="en-US" sz="1000" dirty="0"/>
              <a:t>data/curated/</a:t>
            </a:r>
            <a:r>
              <a:rPr lang="en-US" sz="1000" dirty="0" err="1"/>
              <a:t>production_kpis.parquet</a:t>
            </a:r>
            <a:endParaRPr lang="en-US" sz="1000" dirty="0"/>
          </a:p>
          <a:p>
            <a:pPr marL="342900" lvl="0" indent="-228600" defTabSz="914400">
              <a:lnSpc>
                <a:spcPct val="90000"/>
              </a:lnSpc>
              <a:spcAft>
                <a:spcPts val="600"/>
              </a:spcAft>
              <a:buFont typeface="Arial" panose="020B0604020202020204" pitchFamily="34" charset="0"/>
              <a:buChar char="•"/>
            </a:pPr>
            <a:endParaRPr lang="en-US" sz="1000" dirty="0"/>
          </a:p>
        </p:txBody>
      </p:sp>
      <p:graphicFrame>
        <p:nvGraphicFramePr>
          <p:cNvPr id="4" name="Table 3">
            <a:extLst>
              <a:ext uri="{FF2B5EF4-FFF2-40B4-BE49-F238E27FC236}">
                <a16:creationId xmlns:a16="http://schemas.microsoft.com/office/drawing/2014/main" id="{2C34A5AA-FB94-7BEA-3602-8FC1A0C6C1AF}"/>
              </a:ext>
            </a:extLst>
          </p:cNvPr>
          <p:cNvGraphicFramePr>
            <a:graphicFrameLocks noGrp="1"/>
          </p:cNvGraphicFramePr>
          <p:nvPr>
            <p:extLst>
              <p:ext uri="{D42A27DB-BD31-4B8C-83A1-F6EECF244321}">
                <p14:modId xmlns:p14="http://schemas.microsoft.com/office/powerpoint/2010/main" val="3285841465"/>
              </p:ext>
            </p:extLst>
          </p:nvPr>
        </p:nvGraphicFramePr>
        <p:xfrm>
          <a:off x="4654296" y="938100"/>
          <a:ext cx="6903721" cy="4981808"/>
        </p:xfrm>
        <a:graphic>
          <a:graphicData uri="http://schemas.openxmlformats.org/drawingml/2006/table">
            <a:tbl>
              <a:tblPr>
                <a:solidFill>
                  <a:srgbClr val="F2F2F2">
                    <a:alpha val="30196"/>
                  </a:srgbClr>
                </a:solidFill>
                <a:tableStyleId>{5C22544A-7EE6-4342-B048-85BDC9FD1C3A}</a:tableStyleId>
              </a:tblPr>
              <a:tblGrid>
                <a:gridCol w="3372829">
                  <a:extLst>
                    <a:ext uri="{9D8B030D-6E8A-4147-A177-3AD203B41FA5}">
                      <a16:colId xmlns:a16="http://schemas.microsoft.com/office/drawing/2014/main" val="2670775628"/>
                    </a:ext>
                  </a:extLst>
                </a:gridCol>
                <a:gridCol w="3530892">
                  <a:extLst>
                    <a:ext uri="{9D8B030D-6E8A-4147-A177-3AD203B41FA5}">
                      <a16:colId xmlns:a16="http://schemas.microsoft.com/office/drawing/2014/main" val="1797871521"/>
                    </a:ext>
                  </a:extLst>
                </a:gridCol>
              </a:tblGrid>
              <a:tr h="524790">
                <a:tc>
                  <a:txBody>
                    <a:bodyPr/>
                    <a:lstStyle/>
                    <a:p>
                      <a:pPr>
                        <a:buNone/>
                      </a:pPr>
                      <a:r>
                        <a:rPr lang="en-IN" sz="1700" b="1" cap="none" spc="0">
                          <a:solidFill>
                            <a:schemeClr val="tx1"/>
                          </a:solidFill>
                        </a:rPr>
                        <a:t>Key KPIs</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b="1" cap="none" spc="0">
                          <a:solidFill>
                            <a:schemeClr val="tx1"/>
                          </a:solidFill>
                        </a:rPr>
                        <a:t>Purpose</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288732752"/>
                  </a:ext>
                </a:extLst>
              </a:tr>
              <a:tr h="524790">
                <a:tc>
                  <a:txBody>
                    <a:bodyPr/>
                    <a:lstStyle/>
                    <a:p>
                      <a:pPr>
                        <a:buNone/>
                      </a:pPr>
                      <a:r>
                        <a:rPr lang="en-IN" sz="1700" cap="none" spc="0">
                          <a:solidFill>
                            <a:schemeClr val="tx1"/>
                          </a:solidFill>
                        </a:rPr>
                        <a:t>Total Output</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actual production</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878099521"/>
                  </a:ext>
                </a:extLst>
              </a:tr>
              <a:tr h="524790">
                <a:tc>
                  <a:txBody>
                    <a:bodyPr/>
                    <a:lstStyle/>
                    <a:p>
                      <a:pPr>
                        <a:buNone/>
                      </a:pPr>
                      <a:r>
                        <a:rPr lang="en-IN" sz="1700" cap="none" spc="0">
                          <a:solidFill>
                            <a:schemeClr val="tx1"/>
                          </a:solidFill>
                        </a:rPr>
                        <a:t>Defects</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defective production</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527566680"/>
                  </a:ext>
                </a:extLst>
              </a:tr>
              <a:tr h="524790">
                <a:tc>
                  <a:txBody>
                    <a:bodyPr/>
                    <a:lstStyle/>
                    <a:p>
                      <a:pPr>
                        <a:buNone/>
                      </a:pPr>
                      <a:r>
                        <a:rPr lang="en-IN" sz="1700" cap="none" spc="0" dirty="0">
                          <a:solidFill>
                            <a:schemeClr val="tx1"/>
                          </a:solidFill>
                        </a:rPr>
                        <a:t>Defect Rate</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quality loss</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284255894"/>
                  </a:ext>
                </a:extLst>
              </a:tr>
              <a:tr h="783488">
                <a:tc>
                  <a:txBody>
                    <a:bodyPr/>
                    <a:lstStyle/>
                    <a:p>
                      <a:pPr>
                        <a:buNone/>
                      </a:pPr>
                      <a:r>
                        <a:rPr lang="en-IN" sz="1700" cap="none" spc="0" dirty="0">
                          <a:solidFill>
                            <a:schemeClr val="tx1"/>
                          </a:solidFill>
                        </a:rPr>
                        <a:t>Average Cycle Time</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production cycle performance</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116498572"/>
                  </a:ext>
                </a:extLst>
              </a:tr>
              <a:tr h="524790">
                <a:tc>
                  <a:txBody>
                    <a:bodyPr/>
                    <a:lstStyle/>
                    <a:p>
                      <a:pPr>
                        <a:buNone/>
                      </a:pPr>
                      <a:r>
                        <a:rPr lang="en-IN" sz="1700" cap="none" spc="0">
                          <a:solidFill>
                            <a:schemeClr val="tx1"/>
                          </a:solidFill>
                        </a:rPr>
                        <a:t>Availability</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equipment availability</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522782712"/>
                  </a:ext>
                </a:extLst>
              </a:tr>
              <a:tr h="524790">
                <a:tc>
                  <a:txBody>
                    <a:bodyPr/>
                    <a:lstStyle/>
                    <a:p>
                      <a:pPr>
                        <a:buNone/>
                      </a:pPr>
                      <a:r>
                        <a:rPr lang="en-IN" sz="1700" cap="none" spc="0">
                          <a:solidFill>
                            <a:schemeClr val="tx1"/>
                          </a:solidFill>
                        </a:rPr>
                        <a:t>Performance</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production performance</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190587176"/>
                  </a:ext>
                </a:extLst>
              </a:tr>
              <a:tr h="524790">
                <a:tc>
                  <a:txBody>
                    <a:bodyPr/>
                    <a:lstStyle/>
                    <a:p>
                      <a:pPr>
                        <a:buNone/>
                      </a:pPr>
                      <a:r>
                        <a:rPr lang="en-IN" sz="1700" cap="none" spc="0">
                          <a:solidFill>
                            <a:schemeClr val="tx1"/>
                          </a:solidFill>
                        </a:rPr>
                        <a:t>Quality</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pPr>
                        <a:buNone/>
                      </a:pPr>
                      <a:r>
                        <a:rPr lang="en-IN" sz="1700" cap="none" spc="0">
                          <a:solidFill>
                            <a:schemeClr val="tx1"/>
                          </a:solidFill>
                        </a:rPr>
                        <a:t>Measures output quality</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997429648"/>
                  </a:ext>
                </a:extLst>
              </a:tr>
              <a:tr h="524790">
                <a:tc>
                  <a:txBody>
                    <a:bodyPr/>
                    <a:lstStyle/>
                    <a:p>
                      <a:pPr>
                        <a:buNone/>
                      </a:pPr>
                      <a:r>
                        <a:rPr lang="en-IN" sz="1700" cap="none" spc="0">
                          <a:solidFill>
                            <a:schemeClr val="tx1"/>
                          </a:solidFill>
                        </a:rPr>
                        <a:t>OEE</a:t>
                      </a:r>
                    </a:p>
                  </a:txBody>
                  <a:tcPr marL="144132" marR="111064" marT="110871" marB="110871"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a:buNone/>
                      </a:pPr>
                      <a:r>
                        <a:rPr lang="en-IN" sz="1700" cap="none" spc="0" dirty="0">
                          <a:solidFill>
                            <a:schemeClr val="tx1"/>
                          </a:solidFill>
                        </a:rPr>
                        <a:t>Overall Equipment Effectiveness</a:t>
                      </a:r>
                    </a:p>
                  </a:txBody>
                  <a:tcPr marL="144132" marR="111064" marT="110871" marB="110871"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2497977517"/>
                  </a:ext>
                </a:extLst>
              </a:tr>
            </a:tbl>
          </a:graphicData>
        </a:graphic>
      </p:graphicFrame>
      <p:sp>
        <p:nvSpPr>
          <p:cNvPr id="10" name="Rectangle 9">
            <a:extLst>
              <a:ext uri="{FF2B5EF4-FFF2-40B4-BE49-F238E27FC236}">
                <a16:creationId xmlns:a16="http://schemas.microsoft.com/office/drawing/2014/main" id="{53D20E51-DCD7-4283-74FF-C8BA7C67FC36}"/>
              </a:ext>
            </a:extLst>
          </p:cNvPr>
          <p:cNvSpPr/>
          <p:nvPr/>
        </p:nvSpPr>
        <p:spPr>
          <a:xfrm>
            <a:off x="744339" y="2380738"/>
            <a:ext cx="1188155" cy="45719"/>
          </a:xfrm>
          <a:prstGeom prst="rect">
            <a:avLst/>
          </a:prstGeom>
          <a:solidFill>
            <a:srgbClr val="BE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530" y="370098"/>
            <a:ext cx="10515600" cy="1325563"/>
          </a:xfrm>
        </p:spPr>
        <p:txBody>
          <a:bodyPr vert="horz" lIns="91440" tIns="45720" rIns="91440" bIns="45720" rtlCol="0" anchor="ctr">
            <a:normAutofit/>
          </a:bodyPr>
          <a:lstStyle/>
          <a:p>
            <a:pPr algn="l" defTabSz="914400">
              <a:lnSpc>
                <a:spcPct val="90000"/>
              </a:lnSpc>
            </a:pPr>
            <a:r>
              <a:rPr lang="en-US" kern="1200" dirty="0">
                <a:solidFill>
                  <a:schemeClr val="tx1"/>
                </a:solidFill>
                <a:latin typeface="+mj-lt"/>
                <a:ea typeface="+mj-ea"/>
                <a:cs typeface="+mj-cs"/>
              </a:rPr>
              <a:t>PostgreSQL Analytics Layer</a:t>
            </a:r>
          </a:p>
        </p:txBody>
      </p:sp>
      <p:sp>
        <p:nvSpPr>
          <p:cNvPr id="13" name="sketch line" hidden="1">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69036" y="1929384"/>
            <a:ext cx="10515600" cy="4251960"/>
          </a:xfrm>
          <a:prstGeom prst="rect">
            <a:avLst/>
          </a:prstGeom>
        </p:spPr>
        <p:txBody>
          <a:bodyPr vert="horz" lIns="91440" tIns="45720" rIns="91440" bIns="45720" rtlCol="0">
            <a:normAutofit fontScale="92500" lnSpcReduction="10000"/>
          </a:bodyPr>
          <a:lstStyle/>
          <a:p>
            <a:pPr defTabSz="914400">
              <a:lnSpc>
                <a:spcPct val="90000"/>
              </a:lnSpc>
              <a:spcAft>
                <a:spcPts val="600"/>
              </a:spcAft>
            </a:pPr>
            <a:r>
              <a:rPr lang="en-US" sz="1600" dirty="0"/>
              <a:t>PostgreSQL was used as the analytical database layer for the transformed MES–PLM data</a:t>
            </a:r>
            <a:r>
              <a:rPr lang="en-US" sz="900" dirty="0"/>
              <a:t>.</a:t>
            </a:r>
          </a:p>
          <a:p>
            <a:pPr indent="-228600" defTabSz="914400">
              <a:lnSpc>
                <a:spcPct val="90000"/>
              </a:lnSpc>
              <a:spcAft>
                <a:spcPts val="600"/>
              </a:spcAft>
              <a:buFont typeface="Arial" panose="020B0604020202020204" pitchFamily="34" charset="0"/>
              <a:buChar char="•"/>
            </a:pPr>
            <a:endParaRPr lang="en-US" sz="900" dirty="0"/>
          </a:p>
          <a:p>
            <a:pPr defTabSz="914400">
              <a:lnSpc>
                <a:spcPct val="90000"/>
              </a:lnSpc>
              <a:spcAft>
                <a:spcPts val="600"/>
              </a:spcAft>
            </a:pPr>
            <a:r>
              <a:rPr lang="en-US" sz="1400" b="1" dirty="0"/>
              <a:t>Tables created:</a:t>
            </a:r>
          </a:p>
          <a:p>
            <a:pPr indent="-228600" defTabSz="914400">
              <a:lnSpc>
                <a:spcPct val="90000"/>
              </a:lnSpc>
              <a:spcAft>
                <a:spcPts val="600"/>
              </a:spcAft>
              <a:buFont typeface="Arial" panose="020B0604020202020204" pitchFamily="34" charset="0"/>
              <a:buChar char="•"/>
            </a:pPr>
            <a:endParaRPr lang="en-US" sz="900" dirty="0"/>
          </a:p>
          <a:p>
            <a:pPr defTabSz="914400">
              <a:lnSpc>
                <a:spcPct val="90000"/>
              </a:lnSpc>
              <a:spcAft>
                <a:spcPts val="600"/>
              </a:spcAft>
            </a:pPr>
            <a:r>
              <a:rPr lang="en-US" sz="1200" b="1" dirty="0"/>
              <a:t>Fact Table</a:t>
            </a:r>
          </a:p>
          <a:p>
            <a:pPr marL="171450" indent="-171450" defTabSz="914400">
              <a:lnSpc>
                <a:spcPct val="90000"/>
              </a:lnSpc>
              <a:spcAft>
                <a:spcPts val="600"/>
              </a:spcAft>
              <a:buFont typeface="Arial" panose="020B0604020202020204" pitchFamily="34" charset="0"/>
              <a:buChar char="•"/>
            </a:pPr>
            <a:r>
              <a:rPr lang="en-US" sz="1000" dirty="0" err="1"/>
              <a:t>fact_production_kpis</a:t>
            </a:r>
            <a:r>
              <a:rPr lang="en-US" sz="1000" dirty="0"/>
              <a:t> — production KPI data </a:t>
            </a:r>
          </a:p>
          <a:p>
            <a:pPr lvl="0" indent="-228600" defTabSz="914400">
              <a:lnSpc>
                <a:spcPct val="90000"/>
              </a:lnSpc>
              <a:spcAft>
                <a:spcPts val="600"/>
              </a:spcAft>
              <a:buFont typeface="Arial" panose="020B0604020202020204" pitchFamily="34" charset="0"/>
              <a:buChar char="•"/>
            </a:pPr>
            <a:endParaRPr lang="en-US" sz="900" dirty="0"/>
          </a:p>
          <a:p>
            <a:pPr defTabSz="914400">
              <a:lnSpc>
                <a:spcPct val="90000"/>
              </a:lnSpc>
              <a:spcAft>
                <a:spcPts val="600"/>
              </a:spcAft>
            </a:pPr>
            <a:r>
              <a:rPr lang="en-US" sz="1200" b="1" dirty="0"/>
              <a:t>Dimension Tables</a:t>
            </a:r>
            <a:endParaRPr lang="en-US" sz="1200" dirty="0"/>
          </a:p>
          <a:p>
            <a:pPr marL="171450" lvl="0" indent="-171450" defTabSz="914400">
              <a:lnSpc>
                <a:spcPct val="90000"/>
              </a:lnSpc>
              <a:spcAft>
                <a:spcPts val="600"/>
              </a:spcAft>
              <a:buFont typeface="Arial" panose="020B0604020202020204" pitchFamily="34" charset="0"/>
              <a:buChar char="•"/>
            </a:pPr>
            <a:r>
              <a:rPr lang="en-US" sz="1000" dirty="0" err="1"/>
              <a:t>dim_machine</a:t>
            </a:r>
            <a:r>
              <a:rPr lang="en-US" sz="1000" dirty="0"/>
              <a:t> — machine-related information </a:t>
            </a:r>
          </a:p>
          <a:p>
            <a:pPr marL="171450" lvl="0" indent="-171450" defTabSz="914400">
              <a:lnSpc>
                <a:spcPct val="90000"/>
              </a:lnSpc>
              <a:spcAft>
                <a:spcPts val="600"/>
              </a:spcAft>
              <a:buFont typeface="Arial" panose="020B0604020202020204" pitchFamily="34" charset="0"/>
              <a:buChar char="•"/>
            </a:pPr>
            <a:r>
              <a:rPr lang="en-US" sz="1000" dirty="0" err="1"/>
              <a:t>dim_product</a:t>
            </a:r>
            <a:r>
              <a:rPr lang="en-US" sz="1000" dirty="0"/>
              <a:t> — product information </a:t>
            </a:r>
          </a:p>
          <a:p>
            <a:pPr marL="171450" lvl="0" indent="-171450" defTabSz="914400">
              <a:lnSpc>
                <a:spcPct val="90000"/>
              </a:lnSpc>
              <a:spcAft>
                <a:spcPts val="600"/>
              </a:spcAft>
              <a:buFont typeface="Arial" panose="020B0604020202020204" pitchFamily="34" charset="0"/>
              <a:buChar char="•"/>
            </a:pPr>
            <a:r>
              <a:rPr lang="en-US" sz="1000" dirty="0" err="1"/>
              <a:t>dim_time</a:t>
            </a:r>
            <a:r>
              <a:rPr lang="en-US" sz="1000" dirty="0"/>
              <a:t> — date/time information </a:t>
            </a:r>
          </a:p>
          <a:p>
            <a:pPr lvl="0" indent="-228600" defTabSz="914400">
              <a:lnSpc>
                <a:spcPct val="90000"/>
              </a:lnSpc>
              <a:spcAft>
                <a:spcPts val="600"/>
              </a:spcAft>
              <a:buFont typeface="Arial" panose="020B0604020202020204" pitchFamily="34" charset="0"/>
              <a:buChar char="•"/>
            </a:pPr>
            <a:endParaRPr lang="en-US" sz="900" dirty="0"/>
          </a:p>
          <a:p>
            <a:pPr defTabSz="914400">
              <a:lnSpc>
                <a:spcPct val="90000"/>
              </a:lnSpc>
              <a:spcAft>
                <a:spcPts val="600"/>
              </a:spcAft>
            </a:pPr>
            <a:r>
              <a:rPr lang="en-US" sz="1200" b="1" dirty="0"/>
              <a:t>Analytical Tables</a:t>
            </a:r>
            <a:endParaRPr lang="en-US" sz="1200" dirty="0"/>
          </a:p>
          <a:p>
            <a:pPr marL="171450" lvl="0" indent="-171450" defTabSz="914400">
              <a:lnSpc>
                <a:spcPct val="90000"/>
              </a:lnSpc>
              <a:spcAft>
                <a:spcPts val="600"/>
              </a:spcAft>
              <a:buFont typeface="Arial" panose="020B0604020202020204" pitchFamily="34" charset="0"/>
              <a:buChar char="•"/>
            </a:pPr>
            <a:r>
              <a:rPr lang="en-US" sz="1000" dirty="0" err="1"/>
              <a:t>machine_performance</a:t>
            </a:r>
            <a:r>
              <a:rPr lang="en-US" sz="1000" dirty="0"/>
              <a:t> — machine performance metrics </a:t>
            </a:r>
          </a:p>
          <a:p>
            <a:pPr marL="171450" lvl="0" indent="-171450" defTabSz="914400">
              <a:lnSpc>
                <a:spcPct val="90000"/>
              </a:lnSpc>
              <a:spcAft>
                <a:spcPts val="600"/>
              </a:spcAft>
              <a:buFont typeface="Arial" panose="020B0604020202020204" pitchFamily="34" charset="0"/>
              <a:buChar char="•"/>
            </a:pPr>
            <a:r>
              <a:rPr lang="en-US" sz="1000" dirty="0" err="1"/>
              <a:t>machine_downtime</a:t>
            </a:r>
            <a:r>
              <a:rPr lang="en-US" sz="1000" dirty="0"/>
              <a:t> — downtime information </a:t>
            </a:r>
          </a:p>
          <a:p>
            <a:pPr marL="171450" lvl="0" indent="-171450" defTabSz="914400">
              <a:lnSpc>
                <a:spcPct val="90000"/>
              </a:lnSpc>
              <a:spcAft>
                <a:spcPts val="600"/>
              </a:spcAft>
              <a:buFont typeface="Arial" panose="020B0604020202020204" pitchFamily="34" charset="0"/>
              <a:buChar char="•"/>
            </a:pPr>
            <a:r>
              <a:rPr lang="en-US" sz="1000" dirty="0" err="1"/>
              <a:t>ecn_events</a:t>
            </a:r>
            <a:r>
              <a:rPr lang="en-US" sz="1000" dirty="0"/>
              <a:t> — engineering change events </a:t>
            </a:r>
          </a:p>
          <a:p>
            <a:pPr lvl="0" indent="-228600" defTabSz="914400">
              <a:lnSpc>
                <a:spcPct val="90000"/>
              </a:lnSpc>
              <a:spcAft>
                <a:spcPts val="600"/>
              </a:spcAft>
              <a:buFont typeface="Arial" panose="020B0604020202020204" pitchFamily="34" charset="0"/>
              <a:buChar char="•"/>
            </a:pPr>
            <a:endParaRPr lang="en-US" sz="900" dirty="0"/>
          </a:p>
          <a:p>
            <a:pPr defTabSz="914400">
              <a:lnSpc>
                <a:spcPct val="90000"/>
              </a:lnSpc>
              <a:spcAft>
                <a:spcPts val="600"/>
              </a:spcAft>
            </a:pPr>
            <a:r>
              <a:rPr lang="en-US" sz="1200" b="1" dirty="0"/>
              <a:t>Analytics</a:t>
            </a:r>
          </a:p>
          <a:p>
            <a:pPr marL="171450" indent="-171450" defTabSz="914400">
              <a:lnSpc>
                <a:spcPct val="100000"/>
              </a:lnSpc>
              <a:spcAft>
                <a:spcPts val="600"/>
              </a:spcAft>
              <a:buFont typeface="Arial" panose="020B0604020202020204" pitchFamily="34" charset="0"/>
              <a:buChar char="•"/>
            </a:pPr>
            <a:r>
              <a:rPr lang="en-IN" sz="1000" dirty="0" err="1"/>
              <a:t>queries.sql</a:t>
            </a:r>
            <a:r>
              <a:rPr lang="en-IN" sz="1000" dirty="0"/>
              <a:t> - </a:t>
            </a:r>
            <a:r>
              <a:rPr lang="en-US" sz="1000" dirty="0"/>
              <a:t>SQL queries were created for production, quality, downtime, OEE and ECN analysis. </a:t>
            </a:r>
            <a:endParaRPr lang="en-US" sz="900" dirty="0"/>
          </a:p>
          <a:p>
            <a:pPr marL="171450" indent="-171450" defTabSz="914400">
              <a:lnSpc>
                <a:spcPct val="100000"/>
              </a:lnSpc>
              <a:spcAft>
                <a:spcPts val="600"/>
              </a:spcAft>
              <a:buFont typeface="Arial" panose="020B0604020202020204" pitchFamily="34" charset="0"/>
              <a:buChar char="•"/>
            </a:pPr>
            <a:r>
              <a:rPr lang="en-IN" sz="1000" dirty="0"/>
              <a:t>load_data.py - loads processed data into PostgreSQL tables.</a:t>
            </a:r>
          </a:p>
          <a:p>
            <a:pPr marL="171450" indent="-171450" defTabSz="914400">
              <a:lnSpc>
                <a:spcPct val="100000"/>
              </a:lnSpc>
              <a:spcAft>
                <a:spcPts val="600"/>
              </a:spcAft>
              <a:buFont typeface="Arial" panose="020B0604020202020204" pitchFamily="34" charset="0"/>
              <a:buChar char="•"/>
            </a:pPr>
            <a:r>
              <a:rPr lang="en-US" sz="1000" dirty="0"/>
              <a:t>The structured PostgreSQL data is used for downstream Power BI reporting</a:t>
            </a:r>
            <a:r>
              <a:rPr lang="en-US" sz="900" dirty="0"/>
              <a:t>.</a:t>
            </a:r>
            <a:endParaRPr lang="en-US" sz="1000" dirty="0"/>
          </a:p>
        </p:txBody>
      </p:sp>
      <p:sp>
        <p:nvSpPr>
          <p:cNvPr id="6" name="Rectangle 5">
            <a:extLst>
              <a:ext uri="{FF2B5EF4-FFF2-40B4-BE49-F238E27FC236}">
                <a16:creationId xmlns:a16="http://schemas.microsoft.com/office/drawing/2014/main" id="{2A26BEA3-8491-4A14-71E8-F46E58AABEF5}"/>
              </a:ext>
            </a:extLst>
          </p:cNvPr>
          <p:cNvSpPr/>
          <p:nvPr/>
        </p:nvSpPr>
        <p:spPr>
          <a:xfrm>
            <a:off x="669036" y="1513472"/>
            <a:ext cx="1602824" cy="45719"/>
          </a:xfrm>
          <a:prstGeom prst="rect">
            <a:avLst/>
          </a:prstGeom>
          <a:solidFill>
            <a:srgbClr val="BE48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3483198" cy="553998"/>
          </a:xfrm>
          <a:prstGeom prst="rect">
            <a:avLst/>
          </a:prstGeom>
          <a:noFill/>
        </p:spPr>
        <p:txBody>
          <a:bodyPr wrap="none">
            <a:spAutoFit/>
          </a:bodyPr>
          <a:lstStyle/>
          <a:p>
            <a:pPr>
              <a:defRPr sz="3000" b="1">
                <a:solidFill>
                  <a:srgbClr val="372A26"/>
                </a:solidFill>
                <a:latin typeface="Aptos Display"/>
              </a:defRPr>
            </a:pPr>
            <a:r>
              <a:rPr dirty="0"/>
              <a:t>Power BI Dashboard</a:t>
            </a:r>
          </a:p>
        </p:txBody>
      </p:sp>
      <p:sp>
        <p:nvSpPr>
          <p:cNvPr id="3" name="Rectangle 2"/>
          <p:cNvSpPr/>
          <p:nvPr/>
        </p:nvSpPr>
        <p:spPr>
          <a:xfrm>
            <a:off x="713232" y="1078992"/>
            <a:ext cx="1143000" cy="41148"/>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1353312"/>
            <a:ext cx="8375498" cy="369332"/>
          </a:xfrm>
          <a:prstGeom prst="rect">
            <a:avLst/>
          </a:prstGeom>
          <a:noFill/>
        </p:spPr>
        <p:txBody>
          <a:bodyPr wrap="none">
            <a:spAutoFit/>
          </a:bodyPr>
          <a:lstStyle/>
          <a:p>
            <a:r>
              <a:rPr lang="en-IN" dirty="0"/>
              <a:t>The transformed and analytical data is visualized through a 5-page Power BI dashboard.</a:t>
            </a:r>
          </a:p>
        </p:txBody>
      </p:sp>
      <p:sp>
        <p:nvSpPr>
          <p:cNvPr id="5" name="Rounded Rectangle 4"/>
          <p:cNvSpPr/>
          <p:nvPr/>
        </p:nvSpPr>
        <p:spPr>
          <a:xfrm>
            <a:off x="713232" y="1965960"/>
            <a:ext cx="2084831" cy="2331720"/>
          </a:xfrm>
          <a:prstGeom prst="roundRect">
            <a:avLst/>
          </a:prstGeom>
          <a:solidFill>
            <a:schemeClr val="bg1"/>
          </a:solidFill>
          <a:ln w="12700">
            <a:solidFill>
              <a:srgbClr val="DCCD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176272"/>
            <a:ext cx="411480" cy="274320"/>
          </a:xfrm>
          <a:prstGeom prst="rect">
            <a:avLst/>
          </a:prstGeom>
          <a:noFill/>
        </p:spPr>
        <p:txBody>
          <a:bodyPr wrap="none">
            <a:spAutoFit/>
          </a:bodyPr>
          <a:lstStyle/>
          <a:p>
            <a:pPr>
              <a:defRPr sz="1200" b="1">
                <a:solidFill>
                  <a:srgbClr val="C0504D"/>
                </a:solidFill>
                <a:latin typeface="Aptos"/>
              </a:defRPr>
            </a:pPr>
            <a:r>
              <a:rPr dirty="0"/>
              <a:t>01</a:t>
            </a:r>
          </a:p>
        </p:txBody>
      </p:sp>
      <p:sp>
        <p:nvSpPr>
          <p:cNvPr id="7" name="TextBox 6"/>
          <p:cNvSpPr txBox="1"/>
          <p:nvPr/>
        </p:nvSpPr>
        <p:spPr>
          <a:xfrm>
            <a:off x="854041" y="2381657"/>
            <a:ext cx="2002023" cy="323165"/>
          </a:xfrm>
          <a:prstGeom prst="rect">
            <a:avLst/>
          </a:prstGeom>
          <a:noFill/>
        </p:spPr>
        <p:txBody>
          <a:bodyPr wrap="none">
            <a:spAutoFit/>
          </a:bodyPr>
          <a:lstStyle/>
          <a:p>
            <a:pPr>
              <a:defRPr sz="1500" b="1">
                <a:solidFill>
                  <a:srgbClr val="372A26"/>
                </a:solidFill>
                <a:latin typeface="Aptos"/>
              </a:defRPr>
            </a:pPr>
            <a:r>
              <a:rPr dirty="0"/>
              <a:t>Production Overview</a:t>
            </a:r>
          </a:p>
        </p:txBody>
      </p:sp>
      <p:sp>
        <p:nvSpPr>
          <p:cNvPr id="8" name="TextBox 7"/>
          <p:cNvSpPr txBox="1"/>
          <p:nvPr/>
        </p:nvSpPr>
        <p:spPr>
          <a:xfrm>
            <a:off x="854041" y="2681406"/>
            <a:ext cx="1856444" cy="1107996"/>
          </a:xfrm>
          <a:prstGeom prst="rect">
            <a:avLst/>
          </a:prstGeom>
          <a:noFill/>
        </p:spPr>
        <p:txBody>
          <a:bodyPr wrap="square">
            <a:spAutoFit/>
          </a:bodyPr>
          <a:lstStyle/>
          <a:p>
            <a:pPr lvl="0"/>
            <a:r>
              <a:rPr lang="en-IN" sz="1100" dirty="0"/>
              <a:t>-Total Production orders </a:t>
            </a:r>
          </a:p>
          <a:p>
            <a:pPr lvl="0"/>
            <a:r>
              <a:rPr lang="en-IN" sz="1100" dirty="0"/>
              <a:t>-Planned vs actual quantity </a:t>
            </a:r>
          </a:p>
          <a:p>
            <a:pPr lvl="0"/>
            <a:r>
              <a:rPr lang="en-IN" sz="1100" dirty="0"/>
              <a:t>-Average OEE </a:t>
            </a:r>
          </a:p>
          <a:p>
            <a:pPr lvl="0"/>
            <a:r>
              <a:rPr lang="en-IN" sz="1100" dirty="0"/>
              <a:t>-Monthly OEE trend </a:t>
            </a:r>
          </a:p>
          <a:p>
            <a:pPr lvl="0"/>
            <a:r>
              <a:rPr lang="en-IN" sz="1100" dirty="0"/>
              <a:t>-3-month rolling average OEE</a:t>
            </a:r>
          </a:p>
          <a:p>
            <a:pPr lvl="0"/>
            <a:endParaRPr sz="1100" dirty="0"/>
          </a:p>
        </p:txBody>
      </p:sp>
      <p:sp>
        <p:nvSpPr>
          <p:cNvPr id="9" name="Rounded Rectangle 8"/>
          <p:cNvSpPr/>
          <p:nvPr/>
        </p:nvSpPr>
        <p:spPr>
          <a:xfrm>
            <a:off x="2971800" y="1965960"/>
            <a:ext cx="2084831" cy="2331720"/>
          </a:xfrm>
          <a:prstGeom prst="roundRect">
            <a:avLst/>
          </a:prstGeom>
          <a:solidFill>
            <a:schemeClr val="bg1"/>
          </a:solidFill>
          <a:ln w="12700">
            <a:solidFill>
              <a:srgbClr val="DCCD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71800" y="2139761"/>
            <a:ext cx="411480" cy="274320"/>
          </a:xfrm>
          <a:prstGeom prst="rect">
            <a:avLst/>
          </a:prstGeom>
          <a:noFill/>
        </p:spPr>
        <p:txBody>
          <a:bodyPr wrap="none">
            <a:spAutoFit/>
          </a:bodyPr>
          <a:lstStyle/>
          <a:p>
            <a:pPr>
              <a:defRPr sz="1200" b="1">
                <a:solidFill>
                  <a:srgbClr val="C0504D"/>
                </a:solidFill>
                <a:latin typeface="Aptos"/>
              </a:defRPr>
            </a:pPr>
            <a:r>
              <a:rPr dirty="0"/>
              <a:t>02</a:t>
            </a:r>
          </a:p>
        </p:txBody>
      </p:sp>
      <p:sp>
        <p:nvSpPr>
          <p:cNvPr id="11" name="TextBox 10"/>
          <p:cNvSpPr txBox="1"/>
          <p:nvPr/>
        </p:nvSpPr>
        <p:spPr>
          <a:xfrm>
            <a:off x="2971800" y="2359217"/>
            <a:ext cx="2105961" cy="323165"/>
          </a:xfrm>
          <a:prstGeom prst="rect">
            <a:avLst/>
          </a:prstGeom>
          <a:noFill/>
        </p:spPr>
        <p:txBody>
          <a:bodyPr wrap="none">
            <a:spAutoFit/>
          </a:bodyPr>
          <a:lstStyle/>
          <a:p>
            <a:pPr>
              <a:defRPr sz="1500" b="1">
                <a:solidFill>
                  <a:srgbClr val="372A26"/>
                </a:solidFill>
                <a:latin typeface="Aptos"/>
              </a:defRPr>
            </a:pPr>
            <a:r>
              <a:rPr dirty="0"/>
              <a:t>Machine Performance</a:t>
            </a:r>
          </a:p>
        </p:txBody>
      </p:sp>
      <p:sp>
        <p:nvSpPr>
          <p:cNvPr id="12" name="TextBox 11"/>
          <p:cNvSpPr txBox="1"/>
          <p:nvPr/>
        </p:nvSpPr>
        <p:spPr>
          <a:xfrm>
            <a:off x="2976511" y="2672532"/>
            <a:ext cx="2031325" cy="946413"/>
          </a:xfrm>
          <a:prstGeom prst="rect">
            <a:avLst/>
          </a:prstGeom>
          <a:noFill/>
        </p:spPr>
        <p:txBody>
          <a:bodyPr wrap="none">
            <a:spAutoFit/>
          </a:bodyPr>
          <a:lstStyle/>
          <a:p>
            <a:pPr lvl="0"/>
            <a:r>
              <a:rPr lang="en-IN" sz="1100" dirty="0"/>
              <a:t>-Machine downtime ranking </a:t>
            </a:r>
          </a:p>
          <a:p>
            <a:pPr lvl="0"/>
            <a:r>
              <a:rPr lang="en-IN" sz="1100" dirty="0"/>
              <a:t>-Top downtime reasons </a:t>
            </a:r>
          </a:p>
          <a:p>
            <a:pPr lvl="0"/>
            <a:r>
              <a:rPr lang="en-IN" sz="1100" dirty="0"/>
              <a:t>-Average cycle time by machine </a:t>
            </a:r>
          </a:p>
          <a:p>
            <a:pPr lvl="0"/>
            <a:r>
              <a:rPr lang="en-IN" sz="1100" dirty="0"/>
              <a:t>-Cycle-time distribution </a:t>
            </a:r>
          </a:p>
          <a:p>
            <a:pPr>
              <a:defRPr sz="1150">
                <a:solidFill>
                  <a:srgbClr val="413B38"/>
                </a:solidFill>
                <a:latin typeface="Aptos"/>
              </a:defRPr>
            </a:pPr>
            <a:endParaRPr dirty="0"/>
          </a:p>
        </p:txBody>
      </p:sp>
      <p:sp>
        <p:nvSpPr>
          <p:cNvPr id="13" name="Rounded Rectangle 12"/>
          <p:cNvSpPr/>
          <p:nvPr/>
        </p:nvSpPr>
        <p:spPr>
          <a:xfrm>
            <a:off x="5230368" y="1965960"/>
            <a:ext cx="2084831" cy="2331720"/>
          </a:xfrm>
          <a:prstGeom prst="roundRect">
            <a:avLst/>
          </a:prstGeom>
          <a:solidFill>
            <a:schemeClr val="bg1"/>
          </a:solidFill>
          <a:ln w="12700">
            <a:solidFill>
              <a:srgbClr val="DCCD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2176272"/>
            <a:ext cx="411480" cy="274320"/>
          </a:xfrm>
          <a:prstGeom prst="rect">
            <a:avLst/>
          </a:prstGeom>
          <a:noFill/>
        </p:spPr>
        <p:txBody>
          <a:bodyPr wrap="none">
            <a:spAutoFit/>
          </a:bodyPr>
          <a:lstStyle/>
          <a:p>
            <a:pPr>
              <a:defRPr sz="1200" b="1">
                <a:solidFill>
                  <a:srgbClr val="C0504D"/>
                </a:solidFill>
                <a:latin typeface="Aptos"/>
              </a:defRPr>
            </a:pPr>
            <a:r>
              <a:t>03</a:t>
            </a:r>
          </a:p>
        </p:txBody>
      </p:sp>
      <p:sp>
        <p:nvSpPr>
          <p:cNvPr id="15" name="TextBox 14"/>
          <p:cNvSpPr txBox="1"/>
          <p:nvPr/>
        </p:nvSpPr>
        <p:spPr>
          <a:xfrm>
            <a:off x="5394959" y="2377906"/>
            <a:ext cx="1515158" cy="323165"/>
          </a:xfrm>
          <a:prstGeom prst="rect">
            <a:avLst/>
          </a:prstGeom>
          <a:noFill/>
        </p:spPr>
        <p:txBody>
          <a:bodyPr wrap="none">
            <a:spAutoFit/>
          </a:bodyPr>
          <a:lstStyle/>
          <a:p>
            <a:pPr>
              <a:defRPr sz="1500" b="1">
                <a:solidFill>
                  <a:srgbClr val="372A26"/>
                </a:solidFill>
                <a:latin typeface="Aptos"/>
              </a:defRPr>
            </a:pPr>
            <a:r>
              <a:rPr dirty="0"/>
              <a:t>Quality Metrics</a:t>
            </a:r>
          </a:p>
        </p:txBody>
      </p:sp>
      <p:sp>
        <p:nvSpPr>
          <p:cNvPr id="16" name="TextBox 15"/>
          <p:cNvSpPr txBox="1"/>
          <p:nvPr/>
        </p:nvSpPr>
        <p:spPr>
          <a:xfrm>
            <a:off x="5427038" y="2670106"/>
            <a:ext cx="1734770" cy="769441"/>
          </a:xfrm>
          <a:prstGeom prst="rect">
            <a:avLst/>
          </a:prstGeom>
          <a:noFill/>
        </p:spPr>
        <p:txBody>
          <a:bodyPr wrap="none">
            <a:spAutoFit/>
          </a:bodyPr>
          <a:lstStyle/>
          <a:p>
            <a:pPr lvl="0"/>
            <a:r>
              <a:rPr lang="en-IN" sz="1100" dirty="0"/>
              <a:t>-Total defects </a:t>
            </a:r>
          </a:p>
          <a:p>
            <a:pPr lvl="0"/>
            <a:r>
              <a:rPr lang="en-IN" sz="1100" dirty="0"/>
              <a:t>-Average defect rate </a:t>
            </a:r>
          </a:p>
          <a:p>
            <a:pPr lvl="0"/>
            <a:r>
              <a:rPr lang="en-IN" sz="1100" dirty="0"/>
              <a:t>-Defect analysis by product</a:t>
            </a:r>
          </a:p>
          <a:p>
            <a:pPr lvl="0"/>
            <a:r>
              <a:rPr lang="en-IN" sz="1100" dirty="0"/>
              <a:t>-Defect trend </a:t>
            </a:r>
          </a:p>
        </p:txBody>
      </p:sp>
      <p:sp>
        <p:nvSpPr>
          <p:cNvPr id="17" name="Rounded Rectangle 16"/>
          <p:cNvSpPr/>
          <p:nvPr/>
        </p:nvSpPr>
        <p:spPr>
          <a:xfrm>
            <a:off x="7488936" y="1965960"/>
            <a:ext cx="2084831" cy="2331720"/>
          </a:xfrm>
          <a:prstGeom prst="roundRect">
            <a:avLst/>
          </a:prstGeom>
          <a:solidFill>
            <a:schemeClr val="bg1"/>
          </a:solidFill>
          <a:ln w="12700">
            <a:solidFill>
              <a:srgbClr val="DCCD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53528" y="2176272"/>
            <a:ext cx="411480" cy="274320"/>
          </a:xfrm>
          <a:prstGeom prst="rect">
            <a:avLst/>
          </a:prstGeom>
          <a:noFill/>
        </p:spPr>
        <p:txBody>
          <a:bodyPr wrap="none">
            <a:spAutoFit/>
          </a:bodyPr>
          <a:lstStyle/>
          <a:p>
            <a:pPr>
              <a:defRPr sz="1200" b="1">
                <a:solidFill>
                  <a:srgbClr val="C0504D"/>
                </a:solidFill>
                <a:latin typeface="Aptos"/>
              </a:defRPr>
            </a:pPr>
            <a:r>
              <a:t>04</a:t>
            </a:r>
          </a:p>
        </p:txBody>
      </p:sp>
      <p:sp>
        <p:nvSpPr>
          <p:cNvPr id="19" name="TextBox 18"/>
          <p:cNvSpPr txBox="1"/>
          <p:nvPr/>
        </p:nvSpPr>
        <p:spPr>
          <a:xfrm>
            <a:off x="7616952" y="2338506"/>
            <a:ext cx="1859548" cy="323165"/>
          </a:xfrm>
          <a:prstGeom prst="rect">
            <a:avLst/>
          </a:prstGeom>
          <a:noFill/>
        </p:spPr>
        <p:txBody>
          <a:bodyPr wrap="none">
            <a:spAutoFit/>
          </a:bodyPr>
          <a:lstStyle/>
          <a:p>
            <a:pPr>
              <a:defRPr sz="1500" b="1">
                <a:solidFill>
                  <a:srgbClr val="372A26"/>
                </a:solidFill>
                <a:latin typeface="Aptos"/>
              </a:defRPr>
            </a:pPr>
            <a:r>
              <a:rPr dirty="0"/>
              <a:t>Downtime Analysis</a:t>
            </a:r>
          </a:p>
        </p:txBody>
      </p:sp>
      <p:sp>
        <p:nvSpPr>
          <p:cNvPr id="20" name="TextBox 19"/>
          <p:cNvSpPr txBox="1"/>
          <p:nvPr/>
        </p:nvSpPr>
        <p:spPr>
          <a:xfrm>
            <a:off x="7607347" y="2643678"/>
            <a:ext cx="1547218" cy="769441"/>
          </a:xfrm>
          <a:prstGeom prst="rect">
            <a:avLst/>
          </a:prstGeom>
          <a:noFill/>
        </p:spPr>
        <p:txBody>
          <a:bodyPr wrap="none">
            <a:spAutoFit/>
          </a:bodyPr>
          <a:lstStyle/>
          <a:p>
            <a:pPr lvl="0"/>
            <a:r>
              <a:rPr lang="en-IN" sz="1100" dirty="0"/>
              <a:t>-Downtime by reason </a:t>
            </a:r>
          </a:p>
          <a:p>
            <a:pPr lvl="0"/>
            <a:r>
              <a:rPr lang="en-IN" sz="1100" dirty="0"/>
              <a:t>-Downtime by machine </a:t>
            </a:r>
          </a:p>
          <a:p>
            <a:pPr lvl="0"/>
            <a:r>
              <a:rPr lang="en-IN" sz="1100" dirty="0"/>
              <a:t>-Downtime over time </a:t>
            </a:r>
          </a:p>
          <a:p>
            <a:pPr lvl="0"/>
            <a:r>
              <a:rPr lang="en-IN" sz="1100" dirty="0"/>
              <a:t>-Time-window analysis </a:t>
            </a:r>
          </a:p>
        </p:txBody>
      </p:sp>
      <p:sp>
        <p:nvSpPr>
          <p:cNvPr id="21" name="Rounded Rectangle 20"/>
          <p:cNvSpPr/>
          <p:nvPr/>
        </p:nvSpPr>
        <p:spPr>
          <a:xfrm>
            <a:off x="9747504" y="1965960"/>
            <a:ext cx="2084831" cy="2331720"/>
          </a:xfrm>
          <a:prstGeom prst="roundRect">
            <a:avLst/>
          </a:prstGeom>
          <a:solidFill>
            <a:schemeClr val="bg1"/>
          </a:solidFill>
          <a:ln w="12700">
            <a:solidFill>
              <a:srgbClr val="DCCD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0656" y="2176272"/>
            <a:ext cx="411480" cy="274320"/>
          </a:xfrm>
          <a:prstGeom prst="rect">
            <a:avLst/>
          </a:prstGeom>
          <a:noFill/>
        </p:spPr>
        <p:txBody>
          <a:bodyPr wrap="none">
            <a:spAutoFit/>
          </a:bodyPr>
          <a:lstStyle/>
          <a:p>
            <a:pPr>
              <a:defRPr sz="1200" b="1">
                <a:solidFill>
                  <a:srgbClr val="C0504D"/>
                </a:solidFill>
                <a:latin typeface="Aptos"/>
              </a:defRPr>
            </a:pPr>
            <a:r>
              <a:rPr dirty="0"/>
              <a:t>05</a:t>
            </a:r>
          </a:p>
        </p:txBody>
      </p:sp>
      <p:sp>
        <p:nvSpPr>
          <p:cNvPr id="23" name="TextBox 22"/>
          <p:cNvSpPr txBox="1"/>
          <p:nvPr/>
        </p:nvSpPr>
        <p:spPr>
          <a:xfrm>
            <a:off x="9813113" y="2372504"/>
            <a:ext cx="1953612" cy="553998"/>
          </a:xfrm>
          <a:prstGeom prst="rect">
            <a:avLst/>
          </a:prstGeom>
          <a:noFill/>
        </p:spPr>
        <p:txBody>
          <a:bodyPr wrap="none">
            <a:spAutoFit/>
          </a:bodyPr>
          <a:lstStyle/>
          <a:p>
            <a:pPr>
              <a:defRPr sz="1500" b="1">
                <a:solidFill>
                  <a:srgbClr val="372A26"/>
                </a:solidFill>
                <a:latin typeface="Aptos"/>
              </a:defRPr>
            </a:pPr>
            <a:r>
              <a:rPr dirty="0"/>
              <a:t>Engineering Change </a:t>
            </a:r>
            <a:endParaRPr lang="en-IN" dirty="0"/>
          </a:p>
          <a:p>
            <a:pPr>
              <a:defRPr sz="1500" b="1">
                <a:solidFill>
                  <a:srgbClr val="372A26"/>
                </a:solidFill>
                <a:latin typeface="Aptos"/>
              </a:defRPr>
            </a:pPr>
            <a:r>
              <a:rPr dirty="0"/>
              <a:t>Impact</a:t>
            </a:r>
          </a:p>
        </p:txBody>
      </p:sp>
      <p:sp>
        <p:nvSpPr>
          <p:cNvPr id="24" name="TextBox 23"/>
          <p:cNvSpPr txBox="1"/>
          <p:nvPr/>
        </p:nvSpPr>
        <p:spPr>
          <a:xfrm>
            <a:off x="9747504" y="2948325"/>
            <a:ext cx="2249334" cy="769441"/>
          </a:xfrm>
          <a:prstGeom prst="rect">
            <a:avLst/>
          </a:prstGeom>
          <a:noFill/>
        </p:spPr>
        <p:txBody>
          <a:bodyPr wrap="none">
            <a:spAutoFit/>
          </a:bodyPr>
          <a:lstStyle/>
          <a:p>
            <a:pPr lvl="0"/>
            <a:r>
              <a:rPr lang="en-IN" sz="1100" dirty="0"/>
              <a:t>-ECN-based analysis </a:t>
            </a:r>
          </a:p>
          <a:p>
            <a:pPr lvl="0"/>
            <a:r>
              <a:rPr lang="en-IN" sz="1100" dirty="0"/>
              <a:t>-Before vs after change comparison </a:t>
            </a:r>
          </a:p>
          <a:p>
            <a:pPr lvl="0"/>
            <a:r>
              <a:rPr lang="en-IN" sz="1100" dirty="0"/>
              <a:t>-OEE impact </a:t>
            </a:r>
          </a:p>
          <a:p>
            <a:pPr lvl="0"/>
            <a:r>
              <a:rPr lang="en-IN" sz="1100" dirty="0"/>
              <a:t>-Defect-rate impact </a:t>
            </a:r>
          </a:p>
        </p:txBody>
      </p:sp>
      <p:sp>
        <p:nvSpPr>
          <p:cNvPr id="25" name="TextBox 24"/>
          <p:cNvSpPr txBox="1"/>
          <p:nvPr/>
        </p:nvSpPr>
        <p:spPr>
          <a:xfrm>
            <a:off x="731520" y="4800600"/>
            <a:ext cx="2400594" cy="384721"/>
          </a:xfrm>
          <a:prstGeom prst="rect">
            <a:avLst/>
          </a:prstGeom>
          <a:noFill/>
        </p:spPr>
        <p:txBody>
          <a:bodyPr wrap="none">
            <a:spAutoFit/>
          </a:bodyPr>
          <a:lstStyle/>
          <a:p>
            <a:pPr>
              <a:defRPr sz="1900" b="1">
                <a:solidFill>
                  <a:srgbClr val="372A26"/>
                </a:solidFill>
                <a:latin typeface="Aptos"/>
              </a:defRPr>
            </a:pPr>
            <a:r>
              <a:rPr dirty="0"/>
              <a:t>Interactive Features</a:t>
            </a:r>
          </a:p>
        </p:txBody>
      </p:sp>
      <p:sp>
        <p:nvSpPr>
          <p:cNvPr id="26" name="Rounded Rectangle 25"/>
          <p:cNvSpPr/>
          <p:nvPr/>
        </p:nvSpPr>
        <p:spPr>
          <a:xfrm>
            <a:off x="731520" y="5257800"/>
            <a:ext cx="10744200" cy="777240"/>
          </a:xfrm>
          <a:prstGeom prst="round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7824" y="5468943"/>
            <a:ext cx="10993437" cy="338554"/>
          </a:xfrm>
          <a:prstGeom prst="rect">
            <a:avLst/>
          </a:prstGeom>
          <a:noFill/>
        </p:spPr>
        <p:txBody>
          <a:bodyPr wrap="square">
            <a:spAutoFit/>
          </a:bodyPr>
          <a:lstStyle/>
          <a:p>
            <a:pPr lvl="0"/>
            <a:r>
              <a:rPr lang="en-IN" sz="1600" dirty="0">
                <a:solidFill>
                  <a:schemeClr val="bg1"/>
                </a:solidFill>
              </a:rPr>
              <a:t>• Product filter  • Machine filter  • Date-range slicer  • ECN ID and Change Type filters  • Calculated Power BI measures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14382" y="500357"/>
            <a:ext cx="10909640" cy="1368614"/>
          </a:xfrm>
          <a:prstGeom prst="ellipse">
            <a:avLst/>
          </a:prstGeom>
        </p:spPr>
        <p:txBody>
          <a:bodyPr vert="horz" lIns="91440" tIns="45720" rIns="91440" bIns="45720" rtlCol="0" anchor="ctr">
            <a:normAutofit/>
          </a:bodyPr>
          <a:lstStyle/>
          <a:p>
            <a:pPr defTabSz="914400">
              <a:lnSpc>
                <a:spcPct val="90000"/>
              </a:lnSpc>
            </a:pPr>
            <a:r>
              <a:rPr lang="en-US" sz="3100" dirty="0">
                <a:latin typeface="+mn-lt"/>
              </a:rPr>
              <a:t>Snapshots of</a:t>
            </a:r>
            <a:br>
              <a:rPr lang="en-US" sz="3100" dirty="0">
                <a:latin typeface="+mn-lt"/>
              </a:rPr>
            </a:br>
            <a:r>
              <a:rPr lang="en-US" sz="3100" dirty="0">
                <a:latin typeface="+mn-lt"/>
              </a:rPr>
              <a:t>Production Overview &amp; Machine Performance</a:t>
            </a:r>
          </a:p>
        </p:txBody>
      </p:sp>
      <p:sp>
        <p:nvSpPr>
          <p:cNvPr id="1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656B06F-371A-B781-581F-2C784EF8FEE4}"/>
              </a:ext>
            </a:extLst>
          </p:cNvPr>
          <p:cNvPicPr>
            <a:picLocks noChangeAspect="1"/>
          </p:cNvPicPr>
          <p:nvPr/>
        </p:nvPicPr>
        <p:blipFill>
          <a:blip r:embed="rId3"/>
          <a:stretch>
            <a:fillRect/>
          </a:stretch>
        </p:blipFill>
        <p:spPr>
          <a:xfrm>
            <a:off x="320040" y="2866454"/>
            <a:ext cx="5614416" cy="3158108"/>
          </a:xfrm>
          <a:prstGeom prst="rect">
            <a:avLst/>
          </a:prstGeom>
        </p:spPr>
      </p:pic>
      <p:pic>
        <p:nvPicPr>
          <p:cNvPr id="7" name="Picture 6">
            <a:extLst>
              <a:ext uri="{FF2B5EF4-FFF2-40B4-BE49-F238E27FC236}">
                <a16:creationId xmlns:a16="http://schemas.microsoft.com/office/drawing/2014/main" id="{6887ED8A-EAED-A0FC-20E1-DB2EAC5D0D3E}"/>
              </a:ext>
            </a:extLst>
          </p:cNvPr>
          <p:cNvPicPr>
            <a:picLocks noChangeAspect="1"/>
          </p:cNvPicPr>
          <p:nvPr/>
        </p:nvPicPr>
        <p:blipFill>
          <a:blip r:embed="rId4"/>
          <a:stretch>
            <a:fillRect/>
          </a:stretch>
        </p:blipFill>
        <p:spPr>
          <a:xfrm>
            <a:off x="6254496" y="2866454"/>
            <a:ext cx="5614416" cy="31581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0B8E7-00D6-D133-1F2B-F7575F25DA4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3A034-B9DA-9FAF-9EA1-11FCD8834BCD}"/>
              </a:ext>
            </a:extLst>
          </p:cNvPr>
          <p:cNvSpPr>
            <a:spLocks noGrp="1"/>
          </p:cNvSpPr>
          <p:nvPr>
            <p:ph type="title"/>
          </p:nvPr>
        </p:nvSpPr>
        <p:spPr>
          <a:xfrm>
            <a:off x="638881" y="755938"/>
            <a:ext cx="10909640" cy="1368614"/>
          </a:xfrm>
          <a:prstGeom prst="ellipse">
            <a:avLst/>
          </a:prstGeom>
        </p:spPr>
        <p:txBody>
          <a:bodyPr vert="horz" lIns="91440" tIns="45720" rIns="91440" bIns="45720" rtlCol="0" anchor="ctr">
            <a:noAutofit/>
          </a:bodyPr>
          <a:lstStyle/>
          <a:p>
            <a:pPr defTabSz="914400">
              <a:lnSpc>
                <a:spcPct val="90000"/>
              </a:lnSpc>
            </a:pPr>
            <a:r>
              <a:rPr lang="en-US" sz="3100" dirty="0">
                <a:latin typeface="+mn-lt"/>
              </a:rPr>
              <a:t>Snapshots of</a:t>
            </a:r>
            <a:br>
              <a:rPr lang="en-US" sz="3100" dirty="0">
                <a:latin typeface="+mn-lt"/>
              </a:rPr>
            </a:br>
            <a:r>
              <a:rPr lang="en-US" sz="3100" dirty="0">
                <a:latin typeface="+mn-lt"/>
              </a:rPr>
              <a:t>Quality Metrics &amp; Downtime Analysis</a:t>
            </a:r>
            <a:br>
              <a:rPr lang="en-US" sz="3100" b="1" dirty="0">
                <a:latin typeface="+mn-lt"/>
              </a:rPr>
            </a:br>
            <a:endParaRPr lang="en-US" sz="3100" dirty="0">
              <a:latin typeface="+mn-lt"/>
            </a:endParaRPr>
          </a:p>
        </p:txBody>
      </p:sp>
      <p:sp>
        <p:nvSpPr>
          <p:cNvPr id="18"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CB225EA-44AD-BA5B-B45E-848D9209D6FB}"/>
              </a:ext>
            </a:extLst>
          </p:cNvPr>
          <p:cNvPicPr>
            <a:picLocks noChangeAspect="1"/>
          </p:cNvPicPr>
          <p:nvPr/>
        </p:nvPicPr>
        <p:blipFill>
          <a:blip r:embed="rId3"/>
          <a:stretch>
            <a:fillRect/>
          </a:stretch>
        </p:blipFill>
        <p:spPr>
          <a:xfrm>
            <a:off x="320040" y="2866454"/>
            <a:ext cx="5614416" cy="3158108"/>
          </a:xfrm>
          <a:prstGeom prst="rect">
            <a:avLst/>
          </a:prstGeom>
        </p:spPr>
      </p:pic>
      <p:pic>
        <p:nvPicPr>
          <p:cNvPr id="8" name="Picture 7">
            <a:extLst>
              <a:ext uri="{FF2B5EF4-FFF2-40B4-BE49-F238E27FC236}">
                <a16:creationId xmlns:a16="http://schemas.microsoft.com/office/drawing/2014/main" id="{7F69B11D-69A6-E36E-96A9-B74ACCF68AFA}"/>
              </a:ext>
            </a:extLst>
          </p:cNvPr>
          <p:cNvPicPr>
            <a:picLocks noChangeAspect="1"/>
          </p:cNvPicPr>
          <p:nvPr/>
        </p:nvPicPr>
        <p:blipFill>
          <a:blip r:embed="rId4"/>
          <a:stretch>
            <a:fillRect/>
          </a:stretch>
        </p:blipFill>
        <p:spPr>
          <a:xfrm>
            <a:off x="6254496" y="2880490"/>
            <a:ext cx="5614416" cy="3130036"/>
          </a:xfrm>
          <a:prstGeom prst="rect">
            <a:avLst/>
          </a:prstGeom>
        </p:spPr>
      </p:pic>
    </p:spTree>
    <p:extLst>
      <p:ext uri="{BB962C8B-B14F-4D97-AF65-F5344CB8AC3E}">
        <p14:creationId xmlns:p14="http://schemas.microsoft.com/office/powerpoint/2010/main" val="1978423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1" y="500357"/>
            <a:ext cx="10909640" cy="1368614"/>
          </a:xfrm>
          <a:prstGeom prst="ellipse">
            <a:avLst/>
          </a:prstGeom>
        </p:spPr>
        <p:txBody>
          <a:bodyPr vert="horz" lIns="91440" tIns="45720" rIns="91440" bIns="45720" rtlCol="0" anchor="ctr">
            <a:normAutofit/>
          </a:bodyPr>
          <a:lstStyle/>
          <a:p>
            <a:pPr defTabSz="914400">
              <a:lnSpc>
                <a:spcPct val="90000"/>
              </a:lnSpc>
            </a:pPr>
            <a:r>
              <a:rPr lang="en-US" sz="3100" dirty="0">
                <a:latin typeface="+mn-lt"/>
              </a:rPr>
              <a:t>Snapshots of </a:t>
            </a:r>
            <a:br>
              <a:rPr lang="en-US" sz="3100" dirty="0">
                <a:latin typeface="+mn-lt"/>
              </a:rPr>
            </a:br>
            <a:r>
              <a:rPr lang="en-US" sz="3100" dirty="0">
                <a:latin typeface="+mn-lt"/>
              </a:rPr>
              <a:t>Engineering Change Impact</a:t>
            </a:r>
          </a:p>
        </p:txBody>
      </p:sp>
      <p:sp>
        <p:nvSpPr>
          <p:cNvPr id="19"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882F4F4-BDAC-E633-7597-78754C557D16}"/>
              </a:ext>
            </a:extLst>
          </p:cNvPr>
          <p:cNvPicPr>
            <a:picLocks noChangeAspect="1"/>
          </p:cNvPicPr>
          <p:nvPr/>
        </p:nvPicPr>
        <p:blipFill>
          <a:blip r:embed="rId3"/>
          <a:stretch>
            <a:fillRect/>
          </a:stretch>
        </p:blipFill>
        <p:spPr>
          <a:xfrm>
            <a:off x="320040" y="2859436"/>
            <a:ext cx="5614416" cy="3172144"/>
          </a:xfrm>
          <a:prstGeom prst="rect">
            <a:avLst/>
          </a:prstGeom>
        </p:spPr>
      </p:pic>
      <p:pic>
        <p:nvPicPr>
          <p:cNvPr id="7" name="Picture 6">
            <a:extLst>
              <a:ext uri="{FF2B5EF4-FFF2-40B4-BE49-F238E27FC236}">
                <a16:creationId xmlns:a16="http://schemas.microsoft.com/office/drawing/2014/main" id="{D3D643C8-4BAB-A214-C59A-700DA9AFA558}"/>
              </a:ext>
            </a:extLst>
          </p:cNvPr>
          <p:cNvPicPr>
            <a:picLocks noChangeAspect="1"/>
          </p:cNvPicPr>
          <p:nvPr/>
        </p:nvPicPr>
        <p:blipFill>
          <a:blip r:embed="rId4"/>
          <a:stretch>
            <a:fillRect/>
          </a:stretch>
        </p:blipFill>
        <p:spPr>
          <a:xfrm>
            <a:off x="6254496" y="2887508"/>
            <a:ext cx="5614416" cy="3116000"/>
          </a:xfrm>
          <a:prstGeom prst="rect">
            <a:avLst/>
          </a:prstGeom>
        </p:spPr>
      </p:pic>
      <p:sp>
        <p:nvSpPr>
          <p:cNvPr id="9" name="TextBox 8">
            <a:extLst>
              <a:ext uri="{FF2B5EF4-FFF2-40B4-BE49-F238E27FC236}">
                <a16:creationId xmlns:a16="http://schemas.microsoft.com/office/drawing/2014/main" id="{15300E84-D895-04AD-B8D8-D0D919DDC552}"/>
              </a:ext>
            </a:extLst>
          </p:cNvPr>
          <p:cNvSpPr txBox="1"/>
          <p:nvPr/>
        </p:nvSpPr>
        <p:spPr>
          <a:xfrm>
            <a:off x="1412240" y="6143944"/>
            <a:ext cx="4226560" cy="369332"/>
          </a:xfrm>
          <a:prstGeom prst="rect">
            <a:avLst/>
          </a:prstGeom>
          <a:noFill/>
        </p:spPr>
        <p:txBody>
          <a:bodyPr wrap="square" rtlCol="0">
            <a:spAutoFit/>
          </a:bodyPr>
          <a:lstStyle/>
          <a:p>
            <a:r>
              <a:rPr lang="en-IN" dirty="0"/>
              <a:t>Before ECN Selection - Overall View</a:t>
            </a:r>
          </a:p>
        </p:txBody>
      </p:sp>
      <p:sp>
        <p:nvSpPr>
          <p:cNvPr id="14" name="TextBox 13">
            <a:extLst>
              <a:ext uri="{FF2B5EF4-FFF2-40B4-BE49-F238E27FC236}">
                <a16:creationId xmlns:a16="http://schemas.microsoft.com/office/drawing/2014/main" id="{39E1A881-BE70-4C6A-0623-302E40D7210F}"/>
              </a:ext>
            </a:extLst>
          </p:cNvPr>
          <p:cNvSpPr txBox="1"/>
          <p:nvPr/>
        </p:nvSpPr>
        <p:spPr>
          <a:xfrm>
            <a:off x="6548017" y="6106570"/>
            <a:ext cx="4231743" cy="369332"/>
          </a:xfrm>
          <a:prstGeom prst="rect">
            <a:avLst/>
          </a:prstGeom>
          <a:noFill/>
        </p:spPr>
        <p:txBody>
          <a:bodyPr wrap="square" rtlCol="0">
            <a:spAutoFit/>
          </a:bodyPr>
          <a:lstStyle/>
          <a:p>
            <a:r>
              <a:rPr lang="en-IN" dirty="0"/>
              <a:t>After ECN Selection - Selected ECN Impact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266B6-4E98-F2A6-6758-4CF5915132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A4B8CA-11F6-D295-89D6-F8A9A470DD19}"/>
              </a:ext>
            </a:extLst>
          </p:cNvPr>
          <p:cNvSpPr txBox="1"/>
          <p:nvPr/>
        </p:nvSpPr>
        <p:spPr>
          <a:xfrm>
            <a:off x="713232" y="438912"/>
            <a:ext cx="6858000" cy="523220"/>
          </a:xfrm>
          <a:prstGeom prst="rect">
            <a:avLst/>
          </a:prstGeom>
          <a:noFill/>
        </p:spPr>
        <p:txBody>
          <a:bodyPr wrap="square" lIns="0" tIns="0" rIns="0" bIns="0">
            <a:spAutoFit/>
          </a:bodyPr>
          <a:lstStyle/>
          <a:p>
            <a:pPr>
              <a:defRPr sz="3400" b="0">
                <a:solidFill>
                  <a:srgbClr val="191919"/>
                </a:solidFill>
                <a:latin typeface="Aptos Display"/>
              </a:defRPr>
            </a:pPr>
            <a:r>
              <a:rPr lang="en-IN" sz="3400" dirty="0">
                <a:solidFill>
                  <a:srgbClr val="191919"/>
                </a:solidFill>
              </a:rPr>
              <a:t>CI Automation</a:t>
            </a:r>
            <a:endParaRPr dirty="0"/>
          </a:p>
        </p:txBody>
      </p:sp>
      <p:sp>
        <p:nvSpPr>
          <p:cNvPr id="3" name="Rectangle 2">
            <a:extLst>
              <a:ext uri="{FF2B5EF4-FFF2-40B4-BE49-F238E27FC236}">
                <a16:creationId xmlns:a16="http://schemas.microsoft.com/office/drawing/2014/main" id="{B89B1B82-07E2-F363-368E-07D0B24963FC}"/>
              </a:ext>
            </a:extLst>
          </p:cNvPr>
          <p:cNvSpPr/>
          <p:nvPr/>
        </p:nvSpPr>
        <p:spPr>
          <a:xfrm>
            <a:off x="749808" y="1078992"/>
            <a:ext cx="1572768" cy="41148"/>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6D31007-A869-39A7-7FB7-B7FDC4F4AE87}"/>
              </a:ext>
            </a:extLst>
          </p:cNvPr>
          <p:cNvSpPr txBox="1"/>
          <p:nvPr/>
        </p:nvSpPr>
        <p:spPr>
          <a:xfrm>
            <a:off x="758952" y="1459292"/>
            <a:ext cx="10515600" cy="1828706"/>
          </a:xfrm>
          <a:prstGeom prst="rect">
            <a:avLst/>
          </a:prstGeom>
          <a:noFill/>
        </p:spPr>
        <p:txBody>
          <a:bodyPr wrap="square" lIns="0" tIns="0" rIns="0" bIns="0">
            <a:spAutoFit/>
          </a:bodyPr>
          <a:lstStyle/>
          <a:p>
            <a:pPr marL="285750" indent="-285750">
              <a:spcAft>
                <a:spcPts val="1000"/>
              </a:spcAft>
              <a:buFont typeface="Arial" panose="020B0604020202020204" pitchFamily="34" charset="0"/>
              <a:buChar char="•"/>
              <a:defRPr sz="1800"/>
            </a:pPr>
            <a:r>
              <a:rPr lang="en-IN" dirty="0"/>
              <a:t>Created docs/architecture_diagram.png using draw.io.</a:t>
            </a:r>
          </a:p>
          <a:p>
            <a:pPr marL="285750" indent="-285750">
              <a:spcAft>
                <a:spcPts val="1000"/>
              </a:spcAft>
              <a:buFont typeface="Arial" panose="020B0604020202020204" pitchFamily="34" charset="0"/>
              <a:buChar char="•"/>
              <a:defRPr sz="1800"/>
            </a:pPr>
            <a:r>
              <a:rPr lang="en-IN" dirty="0"/>
              <a:t>Added requirements.txt for Python dependencies.</a:t>
            </a:r>
          </a:p>
          <a:p>
            <a:pPr marL="285750" indent="-285750">
              <a:spcAft>
                <a:spcPts val="1000"/>
              </a:spcAft>
              <a:buFont typeface="Arial" panose="020B0604020202020204" pitchFamily="34" charset="0"/>
              <a:buChar char="•"/>
              <a:defRPr sz="1800"/>
            </a:pPr>
            <a:r>
              <a:rPr lang="en-IN" dirty="0"/>
              <a:t>Implemented GitHub Actions CI in .</a:t>
            </a:r>
            <a:r>
              <a:rPr lang="en-IN" dirty="0" err="1"/>
              <a:t>github</a:t>
            </a:r>
            <a:r>
              <a:rPr lang="en-IN" dirty="0"/>
              <a:t>/workflows/</a:t>
            </a:r>
            <a:r>
              <a:rPr lang="en-IN" dirty="0" err="1"/>
              <a:t>ci.yml</a:t>
            </a:r>
            <a:r>
              <a:rPr lang="en-IN" dirty="0"/>
              <a:t>.</a:t>
            </a:r>
          </a:p>
          <a:p>
            <a:pPr marL="285750" indent="-285750">
              <a:spcAft>
                <a:spcPts val="1000"/>
              </a:spcAft>
              <a:buFont typeface="Arial" panose="020B0604020202020204" pitchFamily="34" charset="0"/>
              <a:buChar char="•"/>
              <a:defRPr sz="1800"/>
            </a:pPr>
            <a:r>
              <a:rPr lang="en-IN" dirty="0"/>
              <a:t>CI successfully passed on GitHub Actions.</a:t>
            </a:r>
          </a:p>
          <a:p>
            <a:pPr>
              <a:defRPr sz="1350" b="0">
                <a:solidFill>
                  <a:srgbClr val="191919"/>
                </a:solidFill>
                <a:latin typeface="Aptos"/>
              </a:defRPr>
            </a:pPr>
            <a:endParaRPr dirty="0"/>
          </a:p>
        </p:txBody>
      </p:sp>
      <p:sp>
        <p:nvSpPr>
          <p:cNvPr id="12" name="TextBox 11">
            <a:extLst>
              <a:ext uri="{FF2B5EF4-FFF2-40B4-BE49-F238E27FC236}">
                <a16:creationId xmlns:a16="http://schemas.microsoft.com/office/drawing/2014/main" id="{0A388616-19D0-112E-DF80-E719701E456F}"/>
              </a:ext>
            </a:extLst>
          </p:cNvPr>
          <p:cNvSpPr txBox="1"/>
          <p:nvPr/>
        </p:nvSpPr>
        <p:spPr>
          <a:xfrm>
            <a:off x="614493" y="3429000"/>
            <a:ext cx="6094602" cy="615553"/>
          </a:xfrm>
          <a:prstGeom prst="rect">
            <a:avLst/>
          </a:prstGeom>
          <a:noFill/>
        </p:spPr>
        <p:txBody>
          <a:bodyPr wrap="square">
            <a:spAutoFit/>
          </a:bodyPr>
          <a:lstStyle/>
          <a:p>
            <a:r>
              <a:rPr lang="it-IT" sz="3400" dirty="0"/>
              <a:t>Conclusion</a:t>
            </a:r>
            <a:endParaRPr lang="en-IN" sz="3400" dirty="0"/>
          </a:p>
        </p:txBody>
      </p:sp>
      <p:sp>
        <p:nvSpPr>
          <p:cNvPr id="14" name="Rectangle 13">
            <a:extLst>
              <a:ext uri="{FF2B5EF4-FFF2-40B4-BE49-F238E27FC236}">
                <a16:creationId xmlns:a16="http://schemas.microsoft.com/office/drawing/2014/main" id="{5850A2EA-C0E1-F3A9-03B7-8315701BA070}"/>
              </a:ext>
            </a:extLst>
          </p:cNvPr>
          <p:cNvSpPr/>
          <p:nvPr/>
        </p:nvSpPr>
        <p:spPr>
          <a:xfrm>
            <a:off x="758952" y="4076319"/>
            <a:ext cx="1572768" cy="41148"/>
          </a:xfrm>
          <a:prstGeom prst="rect">
            <a:avLst/>
          </a:prstGeom>
          <a:solidFill>
            <a:srgbClr val="C050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5CF8C96C-977A-6331-9F28-528842468D7F}"/>
              </a:ext>
            </a:extLst>
          </p:cNvPr>
          <p:cNvSpPr txBox="1"/>
          <p:nvPr/>
        </p:nvSpPr>
        <p:spPr>
          <a:xfrm>
            <a:off x="614493" y="4404220"/>
            <a:ext cx="9342665" cy="646331"/>
          </a:xfrm>
          <a:prstGeom prst="rect">
            <a:avLst/>
          </a:prstGeom>
          <a:noFill/>
        </p:spPr>
        <p:txBody>
          <a:bodyPr wrap="square" rtlCol="0">
            <a:spAutoFit/>
          </a:bodyPr>
          <a:lstStyle/>
          <a:p>
            <a:r>
              <a:rPr lang="en-IN" dirty="0"/>
              <a:t>The project demonstrates an end-to-end MES–PLM analytics solution, from raw manufacturing data ingestion to KPI computation, PostgreSQL analytics and interactive Power BI reporting.</a:t>
            </a:r>
          </a:p>
        </p:txBody>
      </p:sp>
    </p:spTree>
    <p:extLst>
      <p:ext uri="{BB962C8B-B14F-4D97-AF65-F5344CB8AC3E}">
        <p14:creationId xmlns:p14="http://schemas.microsoft.com/office/powerpoint/2010/main" val="2709112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2994</Words>
  <Application>Microsoft Office PowerPoint</Application>
  <PresentationFormat>Widescreen</PresentationFormat>
  <Paragraphs>276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End-to-End Architecture</vt:lpstr>
      <vt:lpstr>Data Sources &amp; Datasets</vt:lpstr>
      <vt:lpstr>PowerPoint Presentation</vt:lpstr>
      <vt:lpstr>Transformation &amp; KPI Computation</vt:lpstr>
      <vt:lpstr>PostgreSQL Analytics Layer</vt:lpstr>
      <vt:lpstr>PowerPoint Presentation</vt:lpstr>
      <vt:lpstr>Snapshots of Production Overview &amp; Machine Performance</vt:lpstr>
      <vt:lpstr>Snapshots of Quality Metrics &amp; Downtime Analysis </vt:lpstr>
      <vt:lpstr>Snapshots of  Engineering Change Impact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samskruthi s kashyap</dc:creator>
  <cp:keywords/>
  <dc:description>generated using python-pptx</dc:description>
  <cp:lastModifiedBy>samskruthi s kashyap</cp:lastModifiedBy>
  <cp:revision>4</cp:revision>
  <dcterms:created xsi:type="dcterms:W3CDTF">2013-01-27T09:14:16Z</dcterms:created>
  <dcterms:modified xsi:type="dcterms:W3CDTF">2026-08-22T19:57:04Z</dcterms:modified>
  <cp:category/>
</cp:coreProperties>
</file>